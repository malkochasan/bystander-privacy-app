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8288000" cy="10287000"/>
  <p:notesSz cx="6858000" cy="9144000"/>
  <p:embeddedFontLst>
    <p:embeddedFont>
      <p:font typeface="Anek Bangla" panose="020B0604020202020204" charset="0"/>
      <p:regular r:id="rId29"/>
    </p:embeddedFont>
    <p:embeddedFont>
      <p:font typeface="Anek Bangla Bold" panose="020B0604020202020204" charset="0"/>
      <p:regular r:id="rId30"/>
    </p:embeddedFont>
    <p:embeddedFont>
      <p:font typeface="Anek Bangla Medium" panose="020B0604020202020204" charset="0"/>
      <p:regular r:id="rId31"/>
    </p:embeddedFont>
    <p:embeddedFont>
      <p:font typeface="Skillet Condensed" panose="020B0604020202020204" charset="0"/>
      <p:regular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5592" autoAdjust="0"/>
  </p:normalViewPr>
  <p:slideViewPr>
    <p:cSldViewPr>
      <p:cViewPr varScale="1">
        <p:scale>
          <a:sx n="48" d="100"/>
          <a:sy n="48" d="100"/>
        </p:scale>
        <p:origin x="109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CDC0D-515D-4D24-9AA3-5F85DB6A3A18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205C1-115A-4AD1-AD71-8DDFFA3B8BF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601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hello</a:t>
            </a:r>
            <a:r>
              <a:rPr lang="tr-TR" dirty="0"/>
              <a:t>, </a:t>
            </a:r>
            <a:r>
              <a:rPr lang="tr-TR" dirty="0" err="1"/>
              <a:t>today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discussing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paper</a:t>
            </a:r>
            <a:r>
              <a:rPr lang="tr-TR" dirty="0"/>
              <a:t> </a:t>
            </a:r>
            <a:r>
              <a:rPr lang="tr-TR" dirty="0" err="1"/>
              <a:t>titled</a:t>
            </a:r>
            <a:r>
              <a:rPr lang="tr-TR" dirty="0"/>
              <a:t> «</a:t>
            </a:r>
            <a:r>
              <a:rPr lang="tr-TR" dirty="0" err="1"/>
              <a:t>Bystander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 </a:t>
            </a:r>
            <a:r>
              <a:rPr lang="tr-TR" dirty="0" err="1"/>
              <a:t>Protection</a:t>
            </a:r>
            <a:r>
              <a:rPr lang="tr-TR" dirty="0"/>
              <a:t> in Smart </a:t>
            </a:r>
            <a:r>
              <a:rPr lang="tr-TR" dirty="0" err="1"/>
              <a:t>Homes</a:t>
            </a:r>
            <a:r>
              <a:rPr lang="tr-TR" dirty="0"/>
              <a:t>».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took</a:t>
            </a:r>
            <a:r>
              <a:rPr lang="tr-TR" dirty="0"/>
              <a:t> </a:t>
            </a:r>
            <a:r>
              <a:rPr lang="tr-TR" dirty="0" err="1"/>
              <a:t>academic</a:t>
            </a:r>
            <a:r>
              <a:rPr lang="tr-TR" dirty="0"/>
              <a:t> </a:t>
            </a:r>
            <a:r>
              <a:rPr lang="tr-TR" dirty="0" err="1"/>
              <a:t>researche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transformed</a:t>
            </a:r>
            <a:r>
              <a:rPr lang="tr-TR" dirty="0"/>
              <a:t> it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functional</a:t>
            </a:r>
            <a:r>
              <a:rPr lang="tr-TR" dirty="0"/>
              <a:t> mobile </a:t>
            </a:r>
            <a:r>
              <a:rPr lang="tr-TR" dirty="0" err="1"/>
              <a:t>progressive</a:t>
            </a:r>
            <a:r>
              <a:rPr lang="tr-TR" dirty="0"/>
              <a:t> web </a:t>
            </a: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negotiate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modern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homes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260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core</a:t>
            </a:r>
            <a:r>
              <a:rPr lang="tr-TR" dirty="0"/>
              <a:t> </a:t>
            </a:r>
            <a:r>
              <a:rPr lang="tr-TR" dirty="0" err="1"/>
              <a:t>issue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investigating</a:t>
            </a:r>
            <a:r>
              <a:rPr lang="tr-TR" dirty="0"/>
              <a:t> is a </a:t>
            </a:r>
            <a:r>
              <a:rPr lang="tr-TR" dirty="0" err="1"/>
              <a:t>fundemental</a:t>
            </a:r>
            <a:r>
              <a:rPr lang="tr-TR" dirty="0"/>
              <a:t> </a:t>
            </a:r>
            <a:r>
              <a:rPr lang="tr-TR" dirty="0" err="1"/>
              <a:t>power</a:t>
            </a:r>
            <a:r>
              <a:rPr lang="tr-TR" dirty="0"/>
              <a:t> </a:t>
            </a:r>
            <a:r>
              <a:rPr lang="tr-TR" dirty="0" err="1"/>
              <a:t>imbalance</a:t>
            </a:r>
            <a:r>
              <a:rPr lang="tr-TR" dirty="0"/>
              <a:t>. </a:t>
            </a:r>
            <a:r>
              <a:rPr lang="tr-TR" dirty="0" err="1"/>
              <a:t>Currently</a:t>
            </a:r>
            <a:r>
              <a:rPr lang="tr-TR" dirty="0"/>
              <a:t>,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homes</a:t>
            </a:r>
            <a:r>
              <a:rPr lang="tr-TR" dirty="0"/>
              <a:t> </a:t>
            </a:r>
            <a:r>
              <a:rPr lang="tr-TR" dirty="0" err="1"/>
              <a:t>utilize</a:t>
            </a:r>
            <a:r>
              <a:rPr lang="tr-TR" dirty="0"/>
              <a:t> </a:t>
            </a:r>
            <a:r>
              <a:rPr lang="tr-TR" dirty="0" err="1"/>
              <a:t>cameras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microphones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often</a:t>
            </a:r>
            <a:r>
              <a:rPr lang="tr-TR" dirty="0"/>
              <a:t> monitör </a:t>
            </a:r>
            <a:r>
              <a:rPr lang="tr-TR" dirty="0" err="1"/>
              <a:t>bystanders</a:t>
            </a:r>
            <a:r>
              <a:rPr lang="tr-TR" dirty="0"/>
              <a:t> </a:t>
            </a:r>
            <a:r>
              <a:rPr lang="tr-TR" dirty="0" err="1"/>
              <a:t>without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explicit</a:t>
            </a:r>
            <a:r>
              <a:rPr lang="tr-TR" dirty="0"/>
              <a:t> </a:t>
            </a:r>
            <a:r>
              <a:rPr lang="tr-TR" dirty="0" err="1"/>
              <a:t>consent</a:t>
            </a:r>
            <a:r>
              <a:rPr lang="tr-TR" dirty="0"/>
              <a:t>. </a:t>
            </a:r>
            <a:r>
              <a:rPr lang="tr-TR" dirty="0" err="1"/>
              <a:t>Bystanders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guests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workers</a:t>
            </a:r>
            <a:r>
              <a:rPr lang="tr-TR" dirty="0"/>
              <a:t> in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context</a:t>
            </a:r>
            <a:r>
              <a:rPr lang="tr-TR" dirty="0"/>
              <a:t>. 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four</a:t>
            </a:r>
            <a:r>
              <a:rPr lang="tr-TR" dirty="0"/>
              <a:t> main </a:t>
            </a:r>
            <a:r>
              <a:rPr lang="tr-TR" dirty="0" err="1"/>
              <a:t>parts</a:t>
            </a:r>
            <a:r>
              <a:rPr lang="tr-TR" dirty="0"/>
              <a:t> of </a:t>
            </a:r>
            <a:r>
              <a:rPr lang="tr-TR" dirty="0" err="1"/>
              <a:t>this</a:t>
            </a:r>
            <a:r>
              <a:rPr lang="tr-TR" dirty="0"/>
              <a:t> problem.</a:t>
            </a:r>
          </a:p>
          <a:p>
            <a:pPr marL="228600" indent="-228600">
              <a:buAutoNum type="arabicPeriod"/>
            </a:pPr>
            <a:r>
              <a:rPr lang="tr-TR" dirty="0"/>
              <a:t>General Survelliance: Constant monitoring is default behaviour in here.</a:t>
            </a:r>
          </a:p>
          <a:p>
            <a:pPr marL="228600" indent="-228600">
              <a:buAutoNum type="arabicPeriod"/>
            </a:pPr>
            <a:r>
              <a:rPr lang="tr-TR" dirty="0" err="1"/>
              <a:t>Power</a:t>
            </a:r>
            <a:r>
              <a:rPr lang="tr-TR" dirty="0"/>
              <a:t> </a:t>
            </a:r>
            <a:r>
              <a:rPr lang="tr-TR" dirty="0" err="1"/>
              <a:t>Imbalance</a:t>
            </a:r>
            <a:r>
              <a:rPr lang="tr-TR" dirty="0"/>
              <a:t>: </a:t>
            </a:r>
            <a:r>
              <a:rPr lang="tr-TR" dirty="0" err="1"/>
              <a:t>Homeowners</a:t>
            </a:r>
            <a:r>
              <a:rPr lang="tr-TR" dirty="0"/>
              <a:t> </a:t>
            </a:r>
            <a:r>
              <a:rPr lang="tr-TR" dirty="0" err="1"/>
              <a:t>hold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privilege</a:t>
            </a:r>
            <a:r>
              <a:rPr lang="tr-TR" dirty="0"/>
              <a:t> of data </a:t>
            </a:r>
            <a:r>
              <a:rPr lang="tr-TR" dirty="0" err="1"/>
              <a:t>collection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leaves</a:t>
            </a:r>
            <a:r>
              <a:rPr lang="tr-TR" dirty="0"/>
              <a:t> </a:t>
            </a:r>
            <a:r>
              <a:rPr lang="tr-TR" dirty="0" err="1"/>
              <a:t>zero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guests</a:t>
            </a:r>
            <a:r>
              <a:rPr lang="tr-TR" dirty="0"/>
              <a:t>.</a:t>
            </a:r>
          </a:p>
          <a:p>
            <a:pPr marL="228600" indent="-228600">
              <a:buAutoNum type="arabicPeriod"/>
            </a:pPr>
            <a:r>
              <a:rPr lang="tr-TR" dirty="0"/>
              <a:t>Technical </a:t>
            </a:r>
            <a:r>
              <a:rPr lang="tr-TR" dirty="0" err="1"/>
              <a:t>Barriers</a:t>
            </a:r>
            <a:r>
              <a:rPr lang="tr-TR" dirty="0"/>
              <a:t>: </a:t>
            </a:r>
            <a:r>
              <a:rPr lang="tr-TR" dirty="0" err="1"/>
              <a:t>Currently</a:t>
            </a:r>
            <a:r>
              <a:rPr lang="tr-TR" dirty="0"/>
              <a:t>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 </a:t>
            </a:r>
            <a:r>
              <a:rPr lang="tr-TR" dirty="0" err="1"/>
              <a:t>tools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not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friendly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an </a:t>
            </a:r>
            <a:r>
              <a:rPr lang="tr-TR" dirty="0" err="1"/>
              <a:t>average</a:t>
            </a:r>
            <a:r>
              <a:rPr lang="tr-TR" dirty="0"/>
              <a:t> </a:t>
            </a:r>
            <a:r>
              <a:rPr lang="tr-TR" dirty="0" err="1"/>
              <a:t>person</a:t>
            </a:r>
            <a:r>
              <a:rPr lang="tr-TR" dirty="0"/>
              <a:t>.</a:t>
            </a:r>
          </a:p>
          <a:p>
            <a:pPr marL="228600" indent="-228600">
              <a:buAutoNum type="arabicPeriod"/>
            </a:pPr>
            <a:r>
              <a:rPr lang="tr-TR" dirty="0" err="1"/>
              <a:t>Social</a:t>
            </a:r>
            <a:r>
              <a:rPr lang="tr-TR" dirty="0"/>
              <a:t> </a:t>
            </a:r>
            <a:r>
              <a:rPr lang="tr-TR" dirty="0" err="1"/>
              <a:t>Friction</a:t>
            </a:r>
            <a:r>
              <a:rPr lang="tr-TR" dirty="0"/>
              <a:t>: </a:t>
            </a:r>
            <a:r>
              <a:rPr lang="tr-TR" dirty="0" err="1"/>
              <a:t>Privacy</a:t>
            </a:r>
            <a:r>
              <a:rPr lang="tr-TR" dirty="0"/>
              <a:t> </a:t>
            </a:r>
            <a:r>
              <a:rPr lang="tr-TR" dirty="0" err="1"/>
              <a:t>concerns</a:t>
            </a:r>
            <a:r>
              <a:rPr lang="tr-TR" dirty="0"/>
              <a:t> </a:t>
            </a:r>
            <a:r>
              <a:rPr lang="tr-TR" dirty="0" err="1"/>
              <a:t>often</a:t>
            </a:r>
            <a:r>
              <a:rPr lang="tr-TR" dirty="0"/>
              <a:t> </a:t>
            </a:r>
            <a:r>
              <a:rPr lang="tr-TR" dirty="0" err="1"/>
              <a:t>drain</a:t>
            </a:r>
            <a:r>
              <a:rPr lang="tr-TR" dirty="0"/>
              <a:t> </a:t>
            </a:r>
            <a:r>
              <a:rPr lang="tr-TR" dirty="0" err="1"/>
              <a:t>relationships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maybe</a:t>
            </a:r>
            <a:r>
              <a:rPr lang="tr-TR" dirty="0"/>
              <a:t> </a:t>
            </a:r>
            <a:r>
              <a:rPr lang="tr-TR" dirty="0" err="1"/>
              <a:t>prevent</a:t>
            </a:r>
            <a:r>
              <a:rPr lang="tr-TR" dirty="0"/>
              <a:t> </a:t>
            </a:r>
            <a:r>
              <a:rPr lang="tr-TR" dirty="0" err="1"/>
              <a:t>guests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visiting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69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Research</a:t>
            </a:r>
            <a:r>
              <a:rPr lang="tr-TR" dirty="0"/>
              <a:t> </a:t>
            </a:r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73% of </a:t>
            </a:r>
            <a:r>
              <a:rPr lang="tr-TR" dirty="0" err="1"/>
              <a:t>bystanders</a:t>
            </a:r>
            <a:r>
              <a:rPr lang="tr-TR" dirty="0"/>
              <a:t> </a:t>
            </a:r>
            <a:r>
              <a:rPr lang="tr-TR" dirty="0" err="1"/>
              <a:t>feel</a:t>
            </a:r>
            <a:r>
              <a:rPr lang="tr-TR" dirty="0"/>
              <a:t> </a:t>
            </a:r>
            <a:r>
              <a:rPr lang="tr-TR" dirty="0" err="1"/>
              <a:t>uncomfortable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home</a:t>
            </a:r>
            <a:r>
              <a:rPr lang="tr-TR" dirty="0"/>
              <a:t> </a:t>
            </a:r>
            <a:r>
              <a:rPr lang="tr-TR" dirty="0" err="1"/>
              <a:t>survelliance</a:t>
            </a:r>
            <a:r>
              <a:rPr lang="tr-TR" dirty="0"/>
              <a:t>.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people</a:t>
            </a:r>
            <a:r>
              <a:rPr lang="tr-TR" dirty="0"/>
              <a:t> </a:t>
            </a:r>
            <a:r>
              <a:rPr lang="tr-TR" dirty="0" err="1"/>
              <a:t>actually</a:t>
            </a:r>
            <a:r>
              <a:rPr lang="tr-TR" dirty="0"/>
              <a:t> </a:t>
            </a:r>
            <a:r>
              <a:rPr lang="tr-TR" dirty="0" err="1"/>
              <a:t>compromise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own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 «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survive</a:t>
            </a:r>
            <a:r>
              <a:rPr lang="tr-TR" dirty="0"/>
              <a:t>»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simply</a:t>
            </a:r>
            <a:r>
              <a:rPr lang="tr-TR" dirty="0"/>
              <a:t> </a:t>
            </a:r>
            <a:r>
              <a:rPr lang="tr-TR" dirty="0" err="1"/>
              <a:t>avoid</a:t>
            </a:r>
            <a:r>
              <a:rPr lang="tr-TR" dirty="0"/>
              <a:t> </a:t>
            </a:r>
            <a:r>
              <a:rPr lang="tr-TR" dirty="0" err="1"/>
              <a:t>social</a:t>
            </a:r>
            <a:r>
              <a:rPr lang="tr-TR" dirty="0"/>
              <a:t> </a:t>
            </a:r>
            <a:r>
              <a:rPr lang="tr-TR" dirty="0" err="1"/>
              <a:t>conflict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taking</a:t>
            </a:r>
            <a:r>
              <a:rPr lang="tr-TR" dirty="0"/>
              <a:t> a step </a:t>
            </a:r>
            <a:r>
              <a:rPr lang="tr-TR" dirty="0" err="1"/>
              <a:t>back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«</a:t>
            </a:r>
            <a:r>
              <a:rPr lang="tr-TR" dirty="0" err="1"/>
              <a:t>autocratic</a:t>
            </a:r>
            <a:r>
              <a:rPr lang="tr-TR" dirty="0"/>
              <a:t>» model of </a:t>
            </a:r>
            <a:r>
              <a:rPr lang="tr-TR" dirty="0" err="1"/>
              <a:t>device</a:t>
            </a:r>
            <a:r>
              <a:rPr lang="tr-TR" dirty="0"/>
              <a:t> </a:t>
            </a:r>
            <a:r>
              <a:rPr lang="tr-TR" dirty="0" err="1"/>
              <a:t>management</a:t>
            </a:r>
            <a:r>
              <a:rPr lang="tr-TR" dirty="0"/>
              <a:t> </a:t>
            </a:r>
            <a:r>
              <a:rPr lang="tr-TR" dirty="0" err="1"/>
              <a:t>towards</a:t>
            </a:r>
            <a:r>
              <a:rPr lang="tr-TR" dirty="0"/>
              <a:t> a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built</a:t>
            </a:r>
            <a:r>
              <a:rPr lang="tr-TR" dirty="0"/>
              <a:t> on </a:t>
            </a:r>
            <a:r>
              <a:rPr lang="tr-TR" dirty="0" err="1"/>
              <a:t>transparency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5494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original</a:t>
            </a:r>
            <a:r>
              <a:rPr lang="tr-TR" dirty="0"/>
              <a:t> </a:t>
            </a:r>
            <a:r>
              <a:rPr lang="tr-TR" dirty="0" err="1"/>
              <a:t>paper</a:t>
            </a:r>
            <a:r>
              <a:rPr lang="tr-TR" dirty="0"/>
              <a:t> </a:t>
            </a:r>
            <a:r>
              <a:rPr lang="tr-TR" dirty="0" err="1"/>
              <a:t>proposed</a:t>
            </a:r>
            <a:r>
              <a:rPr lang="tr-TR" dirty="0"/>
              <a:t> a </a:t>
            </a:r>
            <a:r>
              <a:rPr lang="tr-TR" dirty="0" err="1"/>
              <a:t>protection</a:t>
            </a:r>
            <a:r>
              <a:rPr lang="tr-TR" dirty="0"/>
              <a:t> </a:t>
            </a:r>
            <a:r>
              <a:rPr lang="tr-TR" dirty="0" err="1"/>
              <a:t>mechanism</a:t>
            </a:r>
            <a:r>
              <a:rPr lang="tr-TR" dirty="0"/>
              <a:t>,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specific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not </a:t>
            </a:r>
            <a:r>
              <a:rPr lang="tr-TR" dirty="0" err="1"/>
              <a:t>implemented</a:t>
            </a:r>
            <a:r>
              <a:rPr lang="tr-TR" dirty="0"/>
              <a:t> </a:t>
            </a:r>
            <a:r>
              <a:rPr lang="tr-TR" dirty="0" err="1"/>
              <a:t>fully</a:t>
            </a:r>
            <a:r>
              <a:rPr lang="tr-TR" dirty="0"/>
              <a:t> </a:t>
            </a:r>
            <a:r>
              <a:rPr lang="tr-TR" dirty="0" err="1"/>
              <a:t>accessible</a:t>
            </a:r>
            <a:r>
              <a:rPr lang="tr-TR" dirty="0"/>
              <a:t>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bridged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gap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implementing</a:t>
            </a:r>
            <a:r>
              <a:rPr lang="tr-TR" dirty="0"/>
              <a:t> a </a:t>
            </a:r>
            <a:r>
              <a:rPr lang="tr-TR" dirty="0" err="1"/>
              <a:t>full-stack</a:t>
            </a:r>
            <a:r>
              <a:rPr lang="tr-TR" dirty="0"/>
              <a:t> </a:t>
            </a:r>
            <a:r>
              <a:rPr lang="tr-TR" dirty="0" err="1"/>
              <a:t>application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covers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requirements</a:t>
            </a:r>
            <a:r>
              <a:rPr lang="tr-TR" dirty="0"/>
              <a:t>.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simulates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 </a:t>
            </a:r>
            <a:r>
              <a:rPr lang="tr-TR" dirty="0" err="1"/>
              <a:t>modes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automated</a:t>
            </a:r>
            <a:r>
              <a:rPr lang="tr-TR" dirty="0"/>
              <a:t> </a:t>
            </a:r>
            <a:r>
              <a:rPr lang="tr-TR" dirty="0" err="1"/>
              <a:t>enforcement</a:t>
            </a:r>
            <a:r>
              <a:rPr lang="tr-TR" dirty="0"/>
              <a:t> as a </a:t>
            </a:r>
            <a:r>
              <a:rPr lang="tr-TR" dirty="0" err="1"/>
              <a:t>proof</a:t>
            </a:r>
            <a:r>
              <a:rPr lang="tr-TR" dirty="0"/>
              <a:t>-of-</a:t>
            </a:r>
            <a:r>
              <a:rPr lang="tr-TR" dirty="0" err="1"/>
              <a:t>concept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 </a:t>
            </a:r>
            <a:r>
              <a:rPr lang="tr-TR" dirty="0" err="1"/>
              <a:t>allows</a:t>
            </a:r>
            <a:r>
              <a:rPr lang="tr-TR" dirty="0"/>
              <a:t> </a:t>
            </a:r>
            <a:r>
              <a:rPr lang="tr-TR" dirty="0" err="1"/>
              <a:t>uers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select</a:t>
            </a:r>
            <a:r>
              <a:rPr lang="tr-TR" dirty="0"/>
              <a:t> </a:t>
            </a:r>
            <a:r>
              <a:rPr lang="tr-TR" dirty="0" err="1"/>
              <a:t>preferences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«</a:t>
            </a:r>
            <a:r>
              <a:rPr lang="tr-TR" dirty="0" err="1"/>
              <a:t>Obfuscate</a:t>
            </a:r>
            <a:r>
              <a:rPr lang="tr-TR" dirty="0"/>
              <a:t> My Voice» </a:t>
            </a:r>
            <a:r>
              <a:rPr lang="tr-TR" dirty="0" err="1"/>
              <a:t>or</a:t>
            </a:r>
            <a:r>
              <a:rPr lang="tr-TR" dirty="0"/>
              <a:t> «</a:t>
            </a:r>
            <a:r>
              <a:rPr lang="tr-TR" dirty="0" err="1"/>
              <a:t>Blur</a:t>
            </a:r>
            <a:r>
              <a:rPr lang="tr-TR" dirty="0"/>
              <a:t> My </a:t>
            </a:r>
            <a:r>
              <a:rPr lang="tr-TR" dirty="0" err="1"/>
              <a:t>Face</a:t>
            </a:r>
            <a:r>
              <a:rPr lang="tr-TR" dirty="0"/>
              <a:t>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8241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lower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technical</a:t>
            </a:r>
            <a:r>
              <a:rPr lang="tr-TR" dirty="0"/>
              <a:t> </a:t>
            </a:r>
            <a:r>
              <a:rPr lang="tr-TR" dirty="0" err="1"/>
              <a:t>barrier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guests,we</a:t>
            </a:r>
            <a:r>
              <a:rPr lang="tr-TR" dirty="0"/>
              <a:t> </a:t>
            </a:r>
            <a:r>
              <a:rPr lang="tr-TR" dirty="0" err="1"/>
              <a:t>built</a:t>
            </a:r>
            <a:r>
              <a:rPr lang="tr-TR" dirty="0"/>
              <a:t> a mobile-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progressive</a:t>
            </a:r>
            <a:r>
              <a:rPr lang="tr-TR" dirty="0"/>
              <a:t> web </a:t>
            </a:r>
            <a:r>
              <a:rPr lang="tr-TR" dirty="0" err="1"/>
              <a:t>app</a:t>
            </a:r>
            <a:r>
              <a:rPr lang="tr-TR" dirty="0"/>
              <a:t>. </a:t>
            </a:r>
            <a:r>
              <a:rPr lang="tr-TR" dirty="0" err="1"/>
              <a:t>there</a:t>
            </a:r>
            <a:r>
              <a:rPr lang="tr-TR" dirty="0"/>
              <a:t> is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store</a:t>
            </a:r>
            <a:r>
              <a:rPr lang="tr-TR" dirty="0"/>
              <a:t> </a:t>
            </a:r>
            <a:r>
              <a:rPr lang="tr-TR" dirty="0" err="1"/>
              <a:t>download</a:t>
            </a:r>
            <a:r>
              <a:rPr lang="tr-TR" dirty="0"/>
              <a:t> </a:t>
            </a:r>
            <a:r>
              <a:rPr lang="tr-TR" dirty="0" err="1"/>
              <a:t>required</a:t>
            </a:r>
            <a:r>
              <a:rPr lang="tr-TR" dirty="0"/>
              <a:t>. </a:t>
            </a:r>
            <a:r>
              <a:rPr lang="tr-TR" dirty="0" err="1"/>
              <a:t>you</a:t>
            </a:r>
            <a:r>
              <a:rPr lang="tr-TR" dirty="0"/>
              <a:t> can </a:t>
            </a:r>
            <a:r>
              <a:rPr lang="tr-TR" dirty="0" err="1"/>
              <a:t>simply</a:t>
            </a:r>
            <a:r>
              <a:rPr lang="tr-TR" dirty="0"/>
              <a:t> </a:t>
            </a:r>
            <a:r>
              <a:rPr lang="tr-TR" dirty="0" err="1"/>
              <a:t>browse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website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enter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home</a:t>
            </a:r>
            <a:r>
              <a:rPr lang="tr-TR" dirty="0"/>
              <a:t> </a:t>
            </a:r>
            <a:r>
              <a:rPr lang="tr-TR" dirty="0" err="1"/>
              <a:t>code</a:t>
            </a:r>
            <a:r>
              <a:rPr lang="tr-TR" dirty="0"/>
              <a:t> te </a:t>
            </a:r>
            <a:r>
              <a:rPr lang="tr-TR" dirty="0" err="1"/>
              <a:t>get</a:t>
            </a:r>
            <a:r>
              <a:rPr lang="tr-TR" dirty="0"/>
              <a:t> Access.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there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enables</a:t>
            </a:r>
            <a:r>
              <a:rPr lang="tr-TR" dirty="0"/>
              <a:t> «</a:t>
            </a:r>
            <a:r>
              <a:rPr lang="tr-TR" dirty="0" err="1"/>
              <a:t>Negotiated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»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modes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«</a:t>
            </a:r>
            <a:r>
              <a:rPr lang="tr-TR" dirty="0" err="1"/>
              <a:t>Anonymize</a:t>
            </a:r>
            <a:r>
              <a:rPr lang="tr-TR" dirty="0"/>
              <a:t>» </a:t>
            </a:r>
            <a:r>
              <a:rPr lang="tr-TR" dirty="0" err="1"/>
              <a:t>or</a:t>
            </a:r>
            <a:r>
              <a:rPr lang="tr-TR" dirty="0"/>
              <a:t> «</a:t>
            </a:r>
            <a:r>
              <a:rPr lang="tr-TR" dirty="0" err="1"/>
              <a:t>Quiet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»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applied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1806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technical</a:t>
            </a:r>
            <a:r>
              <a:rPr lang="tr-TR" dirty="0"/>
              <a:t> </a:t>
            </a:r>
            <a:r>
              <a:rPr lang="tr-TR" dirty="0" err="1"/>
              <a:t>detail</a:t>
            </a:r>
            <a:r>
              <a:rPr lang="tr-TR" dirty="0"/>
              <a:t>, </a:t>
            </a:r>
            <a:r>
              <a:rPr lang="tr-TR" dirty="0" err="1"/>
              <a:t>frontend</a:t>
            </a:r>
            <a:r>
              <a:rPr lang="tr-TR" dirty="0"/>
              <a:t> is </a:t>
            </a:r>
            <a:r>
              <a:rPr lang="tr-TR" dirty="0" err="1"/>
              <a:t>built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React</a:t>
            </a:r>
            <a:r>
              <a:rPr lang="tr-TR" dirty="0"/>
              <a:t> 18, </a:t>
            </a:r>
            <a:r>
              <a:rPr lang="tr-TR" dirty="0" err="1"/>
              <a:t>TypeScript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Vite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Zustand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-time </a:t>
            </a:r>
            <a:r>
              <a:rPr lang="tr-TR" dirty="0" err="1"/>
              <a:t>state</a:t>
            </a:r>
            <a:r>
              <a:rPr lang="tr-TR" dirty="0"/>
              <a:t> </a:t>
            </a:r>
            <a:r>
              <a:rPr lang="tr-TR" dirty="0" err="1"/>
              <a:t>management</a:t>
            </a:r>
            <a:r>
              <a:rPr lang="tr-TR" dirty="0"/>
              <a:t> of </a:t>
            </a:r>
            <a:r>
              <a:rPr lang="tr-TR" dirty="0" err="1"/>
              <a:t>device</a:t>
            </a:r>
            <a:r>
              <a:rPr lang="tr-TR" dirty="0"/>
              <a:t> </a:t>
            </a:r>
            <a:r>
              <a:rPr lang="tr-TR" dirty="0" err="1"/>
              <a:t>status</a:t>
            </a:r>
            <a:r>
              <a:rPr lang="tr-TR" dirty="0"/>
              <a:t>. The UI uses Tailwind CSS that is fully responsive on mobile. </a:t>
            </a:r>
          </a:p>
          <a:p>
            <a:r>
              <a:rPr lang="tr-TR" dirty="0"/>
              <a:t>Express.js was used to run server on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7278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three</a:t>
            </a:r>
            <a:r>
              <a:rPr lang="tr-TR" dirty="0"/>
              <a:t> main </a:t>
            </a:r>
            <a:r>
              <a:rPr lang="tr-TR" dirty="0" err="1"/>
              <a:t>modes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.</a:t>
            </a:r>
            <a:br>
              <a:rPr lang="tr-TR" dirty="0"/>
            </a:br>
            <a:r>
              <a:rPr lang="tr-TR" dirty="0"/>
              <a:t>First is Security </a:t>
            </a:r>
            <a:r>
              <a:rPr lang="tr-TR" dirty="0" err="1"/>
              <a:t>mode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default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.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sensors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cameras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active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maximum</a:t>
            </a:r>
            <a:r>
              <a:rPr lang="tr-TR" dirty="0"/>
              <a:t> </a:t>
            </a:r>
            <a:r>
              <a:rPr lang="tr-TR" dirty="0" err="1"/>
              <a:t>protection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2984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Social</a:t>
            </a:r>
            <a:r>
              <a:rPr lang="tr-TR" dirty="0"/>
              <a:t>/</a:t>
            </a:r>
            <a:r>
              <a:rPr lang="tr-TR" dirty="0" err="1"/>
              <a:t>Guest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 is </a:t>
            </a:r>
            <a:r>
              <a:rPr lang="tr-TR" dirty="0" err="1"/>
              <a:t>optimized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conversations</a:t>
            </a:r>
            <a:r>
              <a:rPr lang="tr-TR" dirty="0"/>
              <a:t>. </a:t>
            </a:r>
            <a:r>
              <a:rPr lang="tr-TR" dirty="0" err="1"/>
              <a:t>Cameras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masked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covered</a:t>
            </a:r>
            <a:r>
              <a:rPr lang="tr-TR" dirty="0"/>
              <a:t> but </a:t>
            </a:r>
            <a:r>
              <a:rPr lang="tr-TR" dirty="0" err="1"/>
              <a:t>speakers</a:t>
            </a:r>
            <a:r>
              <a:rPr lang="tr-TR" dirty="0"/>
              <a:t> </a:t>
            </a:r>
            <a:r>
              <a:rPr lang="tr-TR" dirty="0" err="1"/>
              <a:t>stay</a:t>
            </a:r>
            <a:r>
              <a:rPr lang="tr-TR" dirty="0"/>
              <a:t> </a:t>
            </a:r>
            <a:r>
              <a:rPr lang="tr-TR" dirty="0" err="1"/>
              <a:t>active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things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music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3016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Private</a:t>
            </a:r>
            <a:r>
              <a:rPr lang="tr-TR" dirty="0"/>
              <a:t>/</a:t>
            </a:r>
            <a:r>
              <a:rPr lang="tr-TR" dirty="0" err="1"/>
              <a:t>prayer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</a:t>
            </a:r>
            <a:r>
              <a:rPr lang="tr-TR" dirty="0" err="1"/>
              <a:t>maximum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.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recording</a:t>
            </a:r>
            <a:r>
              <a:rPr lang="tr-TR" dirty="0"/>
              <a:t> </a:t>
            </a:r>
            <a:r>
              <a:rPr lang="tr-TR" dirty="0" err="1"/>
              <a:t>devices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turned</a:t>
            </a:r>
            <a:r>
              <a:rPr lang="tr-TR" dirty="0"/>
              <a:t> </a:t>
            </a:r>
            <a:r>
              <a:rPr lang="tr-TR" dirty="0" err="1"/>
              <a:t>off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cultural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religious</a:t>
            </a:r>
            <a:r>
              <a:rPr lang="tr-TR" dirty="0"/>
              <a:t> </a:t>
            </a:r>
            <a:r>
              <a:rPr lang="tr-TR" dirty="0" err="1"/>
              <a:t>needs</a:t>
            </a:r>
            <a:r>
              <a:rPr lang="tr-TR" dirty="0"/>
              <a:t>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prayer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changing</a:t>
            </a:r>
            <a:r>
              <a:rPr lang="tr-TR" dirty="0"/>
              <a:t> </a:t>
            </a:r>
            <a:r>
              <a:rPr lang="tr-TR" dirty="0" err="1"/>
              <a:t>cloths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7987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as </a:t>
            </a:r>
            <a:r>
              <a:rPr lang="tr-TR" dirty="0" err="1"/>
              <a:t>key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ensured</a:t>
            </a:r>
            <a:r>
              <a:rPr lang="tr-TR" dirty="0"/>
              <a:t> </a:t>
            </a:r>
            <a:r>
              <a:rPr lang="tr-TR" dirty="0" err="1"/>
              <a:t>device</a:t>
            </a:r>
            <a:r>
              <a:rPr lang="tr-TR" dirty="0"/>
              <a:t> </a:t>
            </a:r>
            <a:r>
              <a:rPr lang="tr-TR" dirty="0" err="1"/>
              <a:t>trancsperency</a:t>
            </a:r>
            <a:r>
              <a:rPr lang="tr-TR" dirty="0"/>
              <a:t> </a:t>
            </a:r>
            <a:r>
              <a:rPr lang="tr-TR" dirty="0" err="1"/>
              <a:t>through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-time </a:t>
            </a:r>
            <a:r>
              <a:rPr lang="tr-TR" dirty="0" err="1"/>
              <a:t>inventory</a:t>
            </a:r>
            <a:r>
              <a:rPr lang="tr-TR" dirty="0"/>
              <a:t>. </a:t>
            </a:r>
            <a:r>
              <a:rPr lang="tr-TR" dirty="0" err="1"/>
              <a:t>Guests</a:t>
            </a:r>
            <a:r>
              <a:rPr lang="tr-TR" dirty="0"/>
              <a:t> can </a:t>
            </a:r>
            <a:r>
              <a:rPr lang="tr-TR" dirty="0" err="1"/>
              <a:t>see</a:t>
            </a:r>
            <a:r>
              <a:rPr lang="tr-TR" dirty="0"/>
              <a:t> </a:t>
            </a:r>
            <a:r>
              <a:rPr lang="tr-TR" dirty="0" err="1"/>
              <a:t>every</a:t>
            </a:r>
            <a:r>
              <a:rPr lang="tr-TR" dirty="0"/>
              <a:t>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device</a:t>
            </a:r>
            <a:r>
              <a:rPr lang="tr-TR" dirty="0"/>
              <a:t> </a:t>
            </a:r>
            <a:r>
              <a:rPr lang="tr-TR" dirty="0" err="1"/>
              <a:t>organized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room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kitchen</a:t>
            </a:r>
            <a:r>
              <a:rPr lang="tr-TR" dirty="0"/>
              <a:t>, </a:t>
            </a:r>
            <a:r>
              <a:rPr lang="tr-TR" dirty="0" err="1"/>
              <a:t>living</a:t>
            </a:r>
            <a:r>
              <a:rPr lang="tr-TR" dirty="0"/>
              <a:t> </a:t>
            </a:r>
            <a:r>
              <a:rPr lang="tr-TR" dirty="0" err="1"/>
              <a:t>room</a:t>
            </a:r>
            <a:r>
              <a:rPr lang="tr-TR" dirty="0"/>
              <a:t>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status</a:t>
            </a:r>
            <a:r>
              <a:rPr lang="tr-TR" dirty="0"/>
              <a:t> </a:t>
            </a:r>
            <a:r>
              <a:rPr lang="tr-TR" dirty="0" err="1"/>
              <a:t>badges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active</a:t>
            </a:r>
            <a:r>
              <a:rPr lang="tr-TR" dirty="0"/>
              <a:t>, </a:t>
            </a:r>
            <a:r>
              <a:rPr lang="tr-TR" dirty="0" err="1"/>
              <a:t>masked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disabled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give</a:t>
            </a:r>
            <a:r>
              <a:rPr lang="tr-TR" dirty="0"/>
              <a:t> 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visual</a:t>
            </a:r>
            <a:r>
              <a:rPr lang="tr-TR" dirty="0"/>
              <a:t> </a:t>
            </a:r>
            <a:r>
              <a:rPr lang="tr-TR" dirty="0" err="1"/>
              <a:t>feedback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explanationsof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data is </a:t>
            </a:r>
            <a:r>
              <a:rPr lang="tr-TR" dirty="0" err="1"/>
              <a:t>being</a:t>
            </a:r>
            <a:r>
              <a:rPr lang="tr-TR" dirty="0"/>
              <a:t> </a:t>
            </a:r>
            <a:r>
              <a:rPr lang="tr-TR" dirty="0" err="1"/>
              <a:t>collected</a:t>
            </a:r>
            <a:r>
              <a:rPr lang="tr-TR" dirty="0"/>
              <a:t> </a:t>
            </a:r>
            <a:r>
              <a:rPr lang="tr-TR" dirty="0" err="1"/>
              <a:t>right</a:t>
            </a:r>
            <a:r>
              <a:rPr lang="tr-TR" dirty="0"/>
              <a:t> </a:t>
            </a:r>
            <a:r>
              <a:rPr lang="tr-TR" dirty="0" err="1"/>
              <a:t>now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883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rule</a:t>
            </a:r>
            <a:r>
              <a:rPr lang="tr-TR" dirty="0"/>
              <a:t> engine </a:t>
            </a:r>
            <a:r>
              <a:rPr lang="tr-TR" dirty="0" err="1"/>
              <a:t>acts</a:t>
            </a:r>
            <a:r>
              <a:rPr lang="tr-TR" dirty="0"/>
              <a:t> as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logic</a:t>
            </a:r>
            <a:r>
              <a:rPr lang="tr-TR" dirty="0"/>
              <a:t> </a:t>
            </a:r>
            <a:r>
              <a:rPr lang="tr-TR" dirty="0" err="1"/>
              <a:t>layer</a:t>
            </a:r>
            <a:r>
              <a:rPr lang="tr-TR" dirty="0"/>
              <a:t>. </a:t>
            </a:r>
            <a:r>
              <a:rPr lang="tr-TR" dirty="0" err="1"/>
              <a:t>whaen</a:t>
            </a:r>
            <a:r>
              <a:rPr lang="tr-TR" dirty="0"/>
              <a:t> a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selects</a:t>
            </a:r>
            <a:r>
              <a:rPr lang="tr-TR" dirty="0"/>
              <a:t> «</a:t>
            </a:r>
            <a:r>
              <a:rPr lang="tr-TR" dirty="0" err="1"/>
              <a:t>social</a:t>
            </a:r>
            <a:r>
              <a:rPr lang="tr-TR" dirty="0"/>
              <a:t> </a:t>
            </a:r>
            <a:r>
              <a:rPr lang="tr-TR" dirty="0" err="1"/>
              <a:t>mode</a:t>
            </a:r>
            <a:r>
              <a:rPr lang="tr-TR" dirty="0"/>
              <a:t>» </a:t>
            </a:r>
            <a:r>
              <a:rPr lang="tr-TR" dirty="0" err="1"/>
              <a:t>the</a:t>
            </a:r>
            <a:r>
              <a:rPr lang="tr-TR" dirty="0"/>
              <a:t> engine </a:t>
            </a:r>
            <a:r>
              <a:rPr lang="tr-TR" dirty="0" err="1"/>
              <a:t>automatically</a:t>
            </a:r>
            <a:r>
              <a:rPr lang="tr-TR" dirty="0"/>
              <a:t> </a:t>
            </a:r>
            <a:r>
              <a:rPr lang="tr-TR" dirty="0" err="1"/>
              <a:t>identifies</a:t>
            </a:r>
            <a:r>
              <a:rPr lang="tr-TR" dirty="0"/>
              <a:t> </a:t>
            </a:r>
            <a:r>
              <a:rPr lang="tr-TR" dirty="0" err="1"/>
              <a:t>every</a:t>
            </a:r>
            <a:r>
              <a:rPr lang="tr-TR" dirty="0"/>
              <a:t> </a:t>
            </a:r>
            <a:r>
              <a:rPr lang="tr-TR" dirty="0" err="1"/>
              <a:t>camera</a:t>
            </a:r>
            <a:r>
              <a:rPr lang="tr-TR" dirty="0"/>
              <a:t> in 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areas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triggers</a:t>
            </a:r>
            <a:r>
              <a:rPr lang="tr-TR" dirty="0"/>
              <a:t> a mask </a:t>
            </a:r>
            <a:r>
              <a:rPr lang="tr-TR" dirty="0" err="1"/>
              <a:t>state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happens</a:t>
            </a:r>
            <a:r>
              <a:rPr lang="tr-TR" dirty="0"/>
              <a:t> </a:t>
            </a:r>
            <a:r>
              <a:rPr lang="tr-TR" dirty="0" err="1"/>
              <a:t>globally</a:t>
            </a:r>
            <a:r>
              <a:rPr lang="tr-TR" dirty="0"/>
              <a:t> </a:t>
            </a:r>
            <a:r>
              <a:rPr lang="tr-TR" dirty="0" err="1"/>
              <a:t>across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without</a:t>
            </a:r>
            <a:r>
              <a:rPr lang="tr-TR" dirty="0"/>
              <a:t> </a:t>
            </a:r>
            <a:r>
              <a:rPr lang="tr-TR" dirty="0" err="1"/>
              <a:t>needing</a:t>
            </a:r>
            <a:r>
              <a:rPr lang="tr-TR" dirty="0"/>
              <a:t> a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refresh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</a:t>
            </a:r>
            <a:r>
              <a:rPr lang="tr-TR" dirty="0" err="1"/>
              <a:t>immidiate</a:t>
            </a:r>
            <a:r>
              <a:rPr lang="tr-TR" dirty="0"/>
              <a:t> </a:t>
            </a:r>
            <a:r>
              <a:rPr lang="tr-TR" dirty="0" err="1"/>
              <a:t>feedback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both</a:t>
            </a:r>
            <a:r>
              <a:rPr lang="tr-TR" dirty="0"/>
              <a:t> host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guest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7603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lets</a:t>
            </a:r>
            <a:r>
              <a:rPr lang="tr-TR" dirty="0"/>
              <a:t> </a:t>
            </a:r>
            <a:r>
              <a:rPr lang="tr-TR" dirty="0" err="1"/>
              <a:t>walk</a:t>
            </a:r>
            <a:r>
              <a:rPr lang="tr-TR" dirty="0"/>
              <a:t> </a:t>
            </a:r>
            <a:r>
              <a:rPr lang="tr-TR" dirty="0" err="1"/>
              <a:t>throug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 </a:t>
            </a:r>
            <a:r>
              <a:rPr lang="tr-TR" dirty="0" err="1"/>
              <a:t>experience</a:t>
            </a:r>
            <a:r>
              <a:rPr lang="tr-TR" dirty="0"/>
              <a:t>. </a:t>
            </a:r>
          </a:p>
          <a:p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entry</a:t>
            </a:r>
            <a:r>
              <a:rPr lang="tr-TR" dirty="0"/>
              <a:t>. </a:t>
            </a:r>
            <a:r>
              <a:rPr lang="tr-TR" dirty="0" err="1"/>
              <a:t>both</a:t>
            </a:r>
            <a:r>
              <a:rPr lang="tr-TR" dirty="0"/>
              <a:t> host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guest</a:t>
            </a:r>
            <a:r>
              <a:rPr lang="tr-TR" dirty="0"/>
              <a:t> </a:t>
            </a:r>
            <a:r>
              <a:rPr lang="tr-TR" dirty="0" err="1"/>
              <a:t>connect</a:t>
            </a:r>
            <a:r>
              <a:rPr lang="tr-TR" dirty="0"/>
              <a:t> </a:t>
            </a:r>
            <a:r>
              <a:rPr lang="tr-TR" dirty="0" err="1"/>
              <a:t>securely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home</a:t>
            </a:r>
            <a:r>
              <a:rPr lang="tr-TR" dirty="0"/>
              <a:t> </a:t>
            </a:r>
            <a:r>
              <a:rPr lang="tr-TR" dirty="0" err="1"/>
              <a:t>code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0048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guest</a:t>
            </a:r>
            <a:r>
              <a:rPr lang="tr-TR" dirty="0"/>
              <a:t> </a:t>
            </a:r>
            <a:r>
              <a:rPr lang="tr-TR" dirty="0" err="1"/>
              <a:t>sees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protection</a:t>
            </a:r>
            <a:r>
              <a:rPr lang="tr-TR" dirty="0"/>
              <a:t> </a:t>
            </a:r>
            <a:r>
              <a:rPr lang="tr-TR" dirty="0" err="1"/>
              <a:t>status</a:t>
            </a:r>
            <a:r>
              <a:rPr lang="tr-TR" dirty="0"/>
              <a:t>,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fully</a:t>
            </a:r>
            <a:r>
              <a:rPr lang="tr-TR" dirty="0"/>
              <a:t> </a:t>
            </a:r>
            <a:r>
              <a:rPr lang="tr-TR" dirty="0" err="1"/>
              <a:t>protected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7541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6207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7320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hosehold</a:t>
            </a:r>
            <a:r>
              <a:rPr lang="tr-TR" dirty="0"/>
              <a:t> </a:t>
            </a:r>
            <a:r>
              <a:rPr lang="tr-TR" dirty="0" err="1"/>
              <a:t>owners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includes</a:t>
            </a:r>
            <a:r>
              <a:rPr lang="tr-TR" dirty="0"/>
              <a:t> CRUD </a:t>
            </a:r>
            <a:r>
              <a:rPr lang="tr-TR" dirty="0" err="1"/>
              <a:t>operations</a:t>
            </a:r>
            <a:r>
              <a:rPr lang="tr-TR" dirty="0"/>
              <a:t>. </a:t>
            </a:r>
            <a:r>
              <a:rPr lang="tr-TR" dirty="0" err="1"/>
              <a:t>hosts</a:t>
            </a:r>
            <a:r>
              <a:rPr lang="tr-TR" dirty="0"/>
              <a:t> can </a:t>
            </a:r>
            <a:r>
              <a:rPr lang="tr-TR" dirty="0" err="1"/>
              <a:t>easily</a:t>
            </a:r>
            <a:r>
              <a:rPr lang="tr-TR" dirty="0"/>
              <a:t> </a:t>
            </a:r>
            <a:r>
              <a:rPr lang="tr-TR" dirty="0" err="1"/>
              <a:t>add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devices</a:t>
            </a:r>
            <a:r>
              <a:rPr lang="tr-TR" dirty="0"/>
              <a:t>, </a:t>
            </a:r>
            <a:r>
              <a:rPr lang="tr-TR" dirty="0" err="1"/>
              <a:t>edit</a:t>
            </a:r>
            <a:r>
              <a:rPr lang="tr-TR" dirty="0"/>
              <a:t>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ones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remove</a:t>
            </a:r>
            <a:r>
              <a:rPr lang="tr-TR" dirty="0"/>
              <a:t> </a:t>
            </a:r>
            <a:r>
              <a:rPr lang="tr-TR" dirty="0" err="1"/>
              <a:t>old</a:t>
            </a:r>
            <a:r>
              <a:rPr lang="tr-TR" dirty="0"/>
              <a:t> </a:t>
            </a:r>
            <a:r>
              <a:rPr lang="tr-TR" dirty="0" err="1"/>
              <a:t>ones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network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just</a:t>
            </a:r>
            <a:r>
              <a:rPr lang="tr-TR" dirty="0"/>
              <a:t> a </a:t>
            </a:r>
            <a:r>
              <a:rPr lang="tr-TR" dirty="0" err="1"/>
              <a:t>few</a:t>
            </a:r>
            <a:r>
              <a:rPr lang="tr-TR" dirty="0"/>
              <a:t> </a:t>
            </a:r>
            <a:r>
              <a:rPr lang="tr-TR" dirty="0" err="1"/>
              <a:t>taps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0167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601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beyond</a:t>
            </a:r>
            <a:r>
              <a:rPr lang="tr-TR" dirty="0"/>
              <a:t> </a:t>
            </a:r>
            <a:r>
              <a:rPr lang="tr-TR" dirty="0" err="1"/>
              <a:t>functionality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prioritize</a:t>
            </a:r>
            <a:r>
              <a:rPr lang="tr-TR" dirty="0"/>
              <a:t> </a:t>
            </a:r>
            <a:r>
              <a:rPr lang="tr-TR" dirty="0" err="1"/>
              <a:t>full</a:t>
            </a:r>
            <a:r>
              <a:rPr lang="tr-TR" dirty="0"/>
              <a:t> </a:t>
            </a:r>
            <a:r>
              <a:rPr lang="tr-TR" dirty="0" err="1"/>
              <a:t>transperancy</a:t>
            </a:r>
            <a:r>
              <a:rPr lang="tr-TR" dirty="0"/>
              <a:t>. 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«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hidden</a:t>
            </a:r>
            <a:r>
              <a:rPr lang="tr-TR" dirty="0"/>
              <a:t> </a:t>
            </a:r>
            <a:r>
              <a:rPr lang="tr-TR" dirty="0" err="1"/>
              <a:t>sensors</a:t>
            </a:r>
            <a:r>
              <a:rPr lang="tr-TR" dirty="0"/>
              <a:t>». </a:t>
            </a:r>
            <a:r>
              <a:rPr lang="tr-TR" dirty="0" err="1"/>
              <a:t>every</a:t>
            </a:r>
            <a:r>
              <a:rPr lang="tr-TR" dirty="0"/>
              <a:t> </a:t>
            </a:r>
            <a:r>
              <a:rPr lang="tr-TR" dirty="0" err="1"/>
              <a:t>registered</a:t>
            </a:r>
            <a:r>
              <a:rPr lang="tr-TR" dirty="0"/>
              <a:t> </a:t>
            </a:r>
            <a:r>
              <a:rPr lang="tr-TR" dirty="0" err="1"/>
              <a:t>device</a:t>
            </a:r>
            <a:r>
              <a:rPr lang="tr-TR" dirty="0"/>
              <a:t> is </a:t>
            </a:r>
            <a:r>
              <a:rPr lang="tr-TR" dirty="0" err="1"/>
              <a:t>visible</a:t>
            </a:r>
            <a:r>
              <a:rPr lang="tr-TR" dirty="0"/>
              <a:t>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practice</a:t>
            </a:r>
            <a:r>
              <a:rPr lang="tr-TR" dirty="0"/>
              <a:t> data </a:t>
            </a:r>
            <a:r>
              <a:rPr lang="tr-TR" dirty="0" err="1"/>
              <a:t>minimization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require</a:t>
            </a:r>
            <a:r>
              <a:rPr lang="tr-TR" dirty="0"/>
              <a:t> </a:t>
            </a:r>
            <a:r>
              <a:rPr lang="tr-TR" dirty="0" err="1"/>
              <a:t>zero</a:t>
            </a:r>
            <a:r>
              <a:rPr lang="tr-TR" dirty="0"/>
              <a:t> data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guest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entire</a:t>
            </a:r>
            <a:r>
              <a:rPr lang="tr-TR" dirty="0"/>
              <a:t> </a:t>
            </a:r>
            <a:r>
              <a:rPr lang="tr-TR" dirty="0" err="1"/>
              <a:t>connection</a:t>
            </a:r>
            <a:r>
              <a:rPr lang="tr-TR" dirty="0"/>
              <a:t> is a </a:t>
            </a:r>
            <a:r>
              <a:rPr lang="tr-TR" dirty="0" err="1"/>
              <a:t>non-invasive</a:t>
            </a:r>
            <a:r>
              <a:rPr lang="tr-TR" dirty="0"/>
              <a:t> </a:t>
            </a:r>
            <a:r>
              <a:rPr lang="tr-TR" dirty="0" err="1"/>
              <a:t>simulation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respects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host’s</a:t>
            </a:r>
            <a:r>
              <a:rPr lang="tr-TR" dirty="0"/>
              <a:t> </a:t>
            </a:r>
            <a:r>
              <a:rPr lang="tr-TR" dirty="0" err="1"/>
              <a:t>actual</a:t>
            </a:r>
            <a:r>
              <a:rPr lang="tr-TR" dirty="0"/>
              <a:t> network </a:t>
            </a:r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agreeing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guest</a:t>
            </a:r>
            <a:r>
              <a:rPr lang="tr-TR" dirty="0"/>
              <a:t> on </a:t>
            </a:r>
            <a:r>
              <a:rPr lang="tr-TR" dirty="0" err="1"/>
              <a:t>privacy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3780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enhancements</a:t>
            </a:r>
            <a:r>
              <a:rPr lang="tr-TR" dirty="0"/>
              <a:t>,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want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integrate</a:t>
            </a:r>
            <a:r>
              <a:rPr lang="tr-TR" dirty="0"/>
              <a:t> a </a:t>
            </a:r>
            <a:r>
              <a:rPr lang="tr-TR" dirty="0" err="1"/>
              <a:t>native</a:t>
            </a:r>
            <a:r>
              <a:rPr lang="tr-TR" dirty="0"/>
              <a:t> QR </a:t>
            </a:r>
            <a:r>
              <a:rPr lang="tr-TR" dirty="0" err="1"/>
              <a:t>support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even</a:t>
            </a:r>
            <a:r>
              <a:rPr lang="tr-TR" dirty="0"/>
              <a:t> </a:t>
            </a:r>
            <a:r>
              <a:rPr lang="tr-TR" dirty="0" err="1"/>
              <a:t>faster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exploring</a:t>
            </a:r>
            <a:r>
              <a:rPr lang="tr-TR" dirty="0"/>
              <a:t> </a:t>
            </a:r>
            <a:r>
              <a:rPr lang="tr-TR" dirty="0" err="1"/>
              <a:t>live</a:t>
            </a:r>
            <a:r>
              <a:rPr lang="tr-TR" dirty="0"/>
              <a:t> API </a:t>
            </a:r>
            <a:r>
              <a:rPr lang="tr-TR" dirty="0" err="1"/>
              <a:t>şntegration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protocols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Matter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Home </a:t>
            </a:r>
            <a:r>
              <a:rPr lang="tr-TR" dirty="0" err="1"/>
              <a:t>Assistant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physical</a:t>
            </a:r>
            <a:r>
              <a:rPr lang="tr-TR" dirty="0"/>
              <a:t> hardware.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hope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preference</a:t>
            </a:r>
            <a:r>
              <a:rPr lang="tr-TR" dirty="0"/>
              <a:t> </a:t>
            </a:r>
            <a:r>
              <a:rPr lang="tr-TR" dirty="0" err="1"/>
              <a:t>memory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remembers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authomatically</a:t>
            </a:r>
            <a:r>
              <a:rPr lang="tr-TR" dirty="0"/>
              <a:t> </a:t>
            </a:r>
            <a:r>
              <a:rPr lang="tr-TR" dirty="0" err="1"/>
              <a:t>applies</a:t>
            </a:r>
            <a:r>
              <a:rPr lang="tr-TR" dirty="0"/>
              <a:t> a </a:t>
            </a:r>
            <a:r>
              <a:rPr lang="tr-TR" dirty="0" err="1"/>
              <a:t>guest’s</a:t>
            </a:r>
            <a:r>
              <a:rPr lang="tr-TR" dirty="0"/>
              <a:t> </a:t>
            </a:r>
            <a:r>
              <a:rPr lang="tr-TR" dirty="0" err="1"/>
              <a:t>privacy</a:t>
            </a:r>
            <a:r>
              <a:rPr lang="tr-TR" dirty="0"/>
              <a:t> </a:t>
            </a:r>
            <a:r>
              <a:rPr lang="tr-TR" dirty="0" err="1"/>
              <a:t>preferences</a:t>
            </a:r>
            <a:r>
              <a:rPr lang="tr-TR" dirty="0"/>
              <a:t> </a:t>
            </a:r>
            <a:r>
              <a:rPr lang="tr-TR" dirty="0" err="1"/>
              <a:t>upon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entry</a:t>
            </a:r>
            <a:r>
              <a:rPr lang="tr-T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50762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In conclusion, our goal was to bridge the gap between academic research and daily reality.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want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transform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home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an «</a:t>
            </a:r>
            <a:r>
              <a:rPr lang="tr-TR" dirty="0" err="1"/>
              <a:t>autocratic</a:t>
            </a:r>
            <a:r>
              <a:rPr lang="tr-TR" dirty="0"/>
              <a:t>» </a:t>
            </a:r>
            <a:r>
              <a:rPr lang="tr-TR" dirty="0" err="1"/>
              <a:t>environment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«</a:t>
            </a:r>
            <a:r>
              <a:rPr lang="tr-TR" dirty="0" err="1"/>
              <a:t>collabrative</a:t>
            </a:r>
            <a:r>
              <a:rPr lang="tr-TR" dirty="0"/>
              <a:t>» </a:t>
            </a:r>
            <a:r>
              <a:rPr lang="tr-TR" dirty="0" err="1"/>
              <a:t>one</a:t>
            </a:r>
            <a:r>
              <a:rPr lang="tr-TR" dirty="0"/>
              <a:t>. By balancing convenience with the fundemental right to privacy, we can ensure technology serves everyone in the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05C1-115A-4AD1-AD71-8DDFFA3B8BFF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423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sv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0.png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3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2.png"/><Relationship Id="rId5" Type="http://schemas.openxmlformats.org/officeDocument/2006/relationships/image" Target="../media/image4.sv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2.svg"/><Relationship Id="rId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2.sv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27.sv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7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37.png"/><Relationship Id="rId5" Type="http://schemas.openxmlformats.org/officeDocument/2006/relationships/image" Target="../media/image3.png"/><Relationship Id="rId10" Type="http://schemas.openxmlformats.org/officeDocument/2006/relationships/image" Target="../media/image36.png"/><Relationship Id="rId4" Type="http://schemas.openxmlformats.org/officeDocument/2006/relationships/image" Target="../media/image2.sv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39.png"/><Relationship Id="rId4" Type="http://schemas.openxmlformats.org/officeDocument/2006/relationships/image" Target="../media/image2.sv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40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Relationship Id="rId1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4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Relationship Id="rId1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48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sv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3" y="0"/>
                </a:lnTo>
                <a:lnTo>
                  <a:pt x="2284343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974957" y="8335996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3" y="0"/>
                </a:lnTo>
                <a:lnTo>
                  <a:pt x="2284343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3363682"/>
            <a:ext cx="16230600" cy="218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 Bystander Privacy Protection in Smart Homes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5436" y="5440131"/>
            <a:ext cx="16230600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250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A Mobile PWA for Privacy Negotiation in the Modern Smart Home</a:t>
            </a:r>
          </a:p>
        </p:txBody>
      </p:sp>
      <p:sp>
        <p:nvSpPr>
          <p:cNvPr id="12" name="Freeform 12"/>
          <p:cNvSpPr/>
          <p:nvPr/>
        </p:nvSpPr>
        <p:spPr>
          <a:xfrm>
            <a:off x="6306373" y="1028700"/>
            <a:ext cx="5675255" cy="751971"/>
          </a:xfrm>
          <a:custGeom>
            <a:avLst/>
            <a:gdLst/>
            <a:ahLst/>
            <a:cxnLst/>
            <a:rect l="l" t="t" r="r" b="b"/>
            <a:pathLst>
              <a:path w="5675255" h="751971">
                <a:moveTo>
                  <a:pt x="0" y="0"/>
                </a:moveTo>
                <a:lnTo>
                  <a:pt x="5675254" y="0"/>
                </a:lnTo>
                <a:lnTo>
                  <a:pt x="5675254" y="751971"/>
                </a:lnTo>
                <a:lnTo>
                  <a:pt x="0" y="7519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063373"/>
            <a:ext cx="1623060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CMP656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78124" y="8146273"/>
            <a:ext cx="5688178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Hasan Malkoç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Gizem Aleyna Tuzcu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05647" y="1471613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430449" y="586455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Problem Statement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347680" y="170972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655976" y="7654976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-140473" y="6596062"/>
            <a:ext cx="1842847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47452" y="2667000"/>
            <a:ext cx="5926122" cy="3086100"/>
            <a:chOff x="0" y="0"/>
            <a:chExt cx="156078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0789" cy="812800"/>
            </a:xfrm>
            <a:custGeom>
              <a:avLst/>
              <a:gdLst/>
              <a:ahLst/>
              <a:cxnLst/>
              <a:rect l="l" t="t" r="r" b="b"/>
              <a:pathLst>
                <a:path w="1560789" h="812800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746173"/>
                  </a:lnTo>
                  <a:cubicBezTo>
                    <a:pt x="1560789" y="782970"/>
                    <a:pt x="1530960" y="812800"/>
                    <a:pt x="1494163" y="812800"/>
                  </a:cubicBezTo>
                  <a:lnTo>
                    <a:pt x="66627" y="812800"/>
                  </a:lnTo>
                  <a:cubicBezTo>
                    <a:pt x="29830" y="812800"/>
                    <a:pt x="0" y="782970"/>
                    <a:pt x="0" y="746173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014E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560789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7452" y="2513681"/>
            <a:ext cx="1093528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FFFFFF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1171" y="3432475"/>
            <a:ext cx="5375008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General Surveillance: Smart homes utilize cameras, microphones, and sensors that often monitor bystanders without consent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140951" y="2666892"/>
            <a:ext cx="5926122" cy="3086100"/>
            <a:chOff x="0" y="0"/>
            <a:chExt cx="1560789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60789" cy="812800"/>
            </a:xfrm>
            <a:custGeom>
              <a:avLst/>
              <a:gdLst/>
              <a:ahLst/>
              <a:cxnLst/>
              <a:rect l="l" t="t" r="r" b="b"/>
              <a:pathLst>
                <a:path w="1560789" h="812800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746173"/>
                  </a:lnTo>
                  <a:cubicBezTo>
                    <a:pt x="1560789" y="782970"/>
                    <a:pt x="1530960" y="812800"/>
                    <a:pt x="1494163" y="812800"/>
                  </a:cubicBezTo>
                  <a:lnTo>
                    <a:pt x="66627" y="812800"/>
                  </a:lnTo>
                  <a:cubicBezTo>
                    <a:pt x="29830" y="812800"/>
                    <a:pt x="0" y="782970"/>
                    <a:pt x="0" y="746173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BFE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560789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142282" y="2513681"/>
            <a:ext cx="1093528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2015" y="3661075"/>
            <a:ext cx="5103993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Power Imbalance: Households (owners) hold the "privilege" of data collection, leaving guests and workers with no control.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661913" y="7062788"/>
            <a:ext cx="5926122" cy="3086100"/>
            <a:chOff x="0" y="0"/>
            <a:chExt cx="1560789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60789" cy="812800"/>
            </a:xfrm>
            <a:custGeom>
              <a:avLst/>
              <a:gdLst/>
              <a:ahLst/>
              <a:cxnLst/>
              <a:rect l="l" t="t" r="r" b="b"/>
              <a:pathLst>
                <a:path w="1560789" h="812800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746173"/>
                  </a:lnTo>
                  <a:cubicBezTo>
                    <a:pt x="1560789" y="782970"/>
                    <a:pt x="1530960" y="812800"/>
                    <a:pt x="1494163" y="812800"/>
                  </a:cubicBezTo>
                  <a:lnTo>
                    <a:pt x="66627" y="812800"/>
                  </a:lnTo>
                  <a:cubicBezTo>
                    <a:pt x="29830" y="812800"/>
                    <a:pt x="0" y="782970"/>
                    <a:pt x="0" y="746173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072F48"/>
            </a:solidFill>
            <a:ln w="38100" cap="rnd">
              <a:solidFill>
                <a:srgbClr val="1370A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560789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953740" y="7715250"/>
            <a:ext cx="5342468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Technical Barriers: Existing privacy tools require router access or technical expertise, which are inaccessible to most bystanders.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697912" y="7062788"/>
            <a:ext cx="5926122" cy="3086100"/>
            <a:chOff x="0" y="0"/>
            <a:chExt cx="1560789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60789" cy="812800"/>
            </a:xfrm>
            <a:custGeom>
              <a:avLst/>
              <a:gdLst/>
              <a:ahLst/>
              <a:cxnLst/>
              <a:rect l="l" t="t" r="r" b="b"/>
              <a:pathLst>
                <a:path w="1560789" h="812800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746173"/>
                  </a:lnTo>
                  <a:cubicBezTo>
                    <a:pt x="1560789" y="782970"/>
                    <a:pt x="1530960" y="812800"/>
                    <a:pt x="1494163" y="812800"/>
                  </a:cubicBezTo>
                  <a:lnTo>
                    <a:pt x="66627" y="812800"/>
                  </a:lnTo>
                  <a:cubicBezTo>
                    <a:pt x="29830" y="812800"/>
                    <a:pt x="0" y="782970"/>
                    <a:pt x="0" y="746173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BFE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560789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697912" y="6815138"/>
            <a:ext cx="1093528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61913" y="6892691"/>
            <a:ext cx="1093528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FFFFFF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00500" y="7819106"/>
            <a:ext cx="5143500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Social Friction: Privacy concerns can prevent visits or strain relationships due to a perceived lack of trust.</a:t>
            </a:r>
          </a:p>
        </p:txBody>
      </p:sp>
      <p:sp>
        <p:nvSpPr>
          <p:cNvPr id="32" name="AutoShape 32"/>
          <p:cNvSpPr/>
          <p:nvPr/>
        </p:nvSpPr>
        <p:spPr>
          <a:xfrm flipV="1">
            <a:off x="3105647" y="5753100"/>
            <a:ext cx="4866" cy="86201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 flipH="1" flipV="1">
            <a:off x="11104012" y="5752992"/>
            <a:ext cx="0" cy="86212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 flipV="1">
            <a:off x="6602172" y="6541136"/>
            <a:ext cx="23915" cy="52154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 flipV="1">
            <a:off x="14534261" y="6540263"/>
            <a:ext cx="23915" cy="52154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71964" y="60325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Research Foundation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974957" y="102870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3" y="0"/>
                </a:lnTo>
                <a:lnTo>
                  <a:pt x="2284343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640317" y="4979585"/>
            <a:ext cx="6799983" cy="2464138"/>
            <a:chOff x="0" y="0"/>
            <a:chExt cx="1790942" cy="6489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90942" cy="648991"/>
            </a:xfrm>
            <a:custGeom>
              <a:avLst/>
              <a:gdLst/>
              <a:ahLst/>
              <a:cxnLst/>
              <a:rect l="l" t="t" r="r" b="b"/>
              <a:pathLst>
                <a:path w="1790942" h="648991">
                  <a:moveTo>
                    <a:pt x="58065" y="0"/>
                  </a:moveTo>
                  <a:lnTo>
                    <a:pt x="1732878" y="0"/>
                  </a:lnTo>
                  <a:cubicBezTo>
                    <a:pt x="1748277" y="0"/>
                    <a:pt x="1763046" y="6117"/>
                    <a:pt x="1773936" y="17007"/>
                  </a:cubicBezTo>
                  <a:cubicBezTo>
                    <a:pt x="1784825" y="27896"/>
                    <a:pt x="1790942" y="42665"/>
                    <a:pt x="1790942" y="58065"/>
                  </a:cubicBezTo>
                  <a:lnTo>
                    <a:pt x="1790942" y="590926"/>
                  </a:lnTo>
                  <a:cubicBezTo>
                    <a:pt x="1790942" y="606326"/>
                    <a:pt x="1784825" y="621095"/>
                    <a:pt x="1773936" y="631984"/>
                  </a:cubicBezTo>
                  <a:cubicBezTo>
                    <a:pt x="1763046" y="642874"/>
                    <a:pt x="1748277" y="648991"/>
                    <a:pt x="1732878" y="648991"/>
                  </a:cubicBezTo>
                  <a:lnTo>
                    <a:pt x="58065" y="648991"/>
                  </a:lnTo>
                  <a:cubicBezTo>
                    <a:pt x="42665" y="648991"/>
                    <a:pt x="27896" y="642874"/>
                    <a:pt x="17007" y="631984"/>
                  </a:cubicBezTo>
                  <a:cubicBezTo>
                    <a:pt x="6117" y="621095"/>
                    <a:pt x="0" y="606326"/>
                    <a:pt x="0" y="590926"/>
                  </a:cubicBezTo>
                  <a:lnTo>
                    <a:pt x="0" y="58065"/>
                  </a:lnTo>
                  <a:cubicBezTo>
                    <a:pt x="0" y="42665"/>
                    <a:pt x="6117" y="27896"/>
                    <a:pt x="17007" y="17007"/>
                  </a:cubicBezTo>
                  <a:cubicBezTo>
                    <a:pt x="27896" y="6117"/>
                    <a:pt x="42665" y="0"/>
                    <a:pt x="58065" y="0"/>
                  </a:cubicBezTo>
                  <a:close/>
                </a:path>
              </a:pathLst>
            </a:custGeom>
            <a:solidFill>
              <a:srgbClr val="1370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790942" cy="69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17145" y="4979585"/>
            <a:ext cx="6799983" cy="2464138"/>
            <a:chOff x="0" y="0"/>
            <a:chExt cx="1790942" cy="6489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0942" cy="648991"/>
            </a:xfrm>
            <a:custGeom>
              <a:avLst/>
              <a:gdLst/>
              <a:ahLst/>
              <a:cxnLst/>
              <a:rect l="l" t="t" r="r" b="b"/>
              <a:pathLst>
                <a:path w="1790942" h="648991">
                  <a:moveTo>
                    <a:pt x="58065" y="0"/>
                  </a:moveTo>
                  <a:lnTo>
                    <a:pt x="1732878" y="0"/>
                  </a:lnTo>
                  <a:cubicBezTo>
                    <a:pt x="1748277" y="0"/>
                    <a:pt x="1763046" y="6117"/>
                    <a:pt x="1773936" y="17007"/>
                  </a:cubicBezTo>
                  <a:cubicBezTo>
                    <a:pt x="1784825" y="27896"/>
                    <a:pt x="1790942" y="42665"/>
                    <a:pt x="1790942" y="58065"/>
                  </a:cubicBezTo>
                  <a:lnTo>
                    <a:pt x="1790942" y="590926"/>
                  </a:lnTo>
                  <a:cubicBezTo>
                    <a:pt x="1790942" y="606326"/>
                    <a:pt x="1784825" y="621095"/>
                    <a:pt x="1773936" y="631984"/>
                  </a:cubicBezTo>
                  <a:cubicBezTo>
                    <a:pt x="1763046" y="642874"/>
                    <a:pt x="1748277" y="648991"/>
                    <a:pt x="1732878" y="648991"/>
                  </a:cubicBezTo>
                  <a:lnTo>
                    <a:pt x="58065" y="648991"/>
                  </a:lnTo>
                  <a:cubicBezTo>
                    <a:pt x="42665" y="648991"/>
                    <a:pt x="27896" y="642874"/>
                    <a:pt x="17007" y="631984"/>
                  </a:cubicBezTo>
                  <a:cubicBezTo>
                    <a:pt x="6117" y="621095"/>
                    <a:pt x="0" y="606326"/>
                    <a:pt x="0" y="590926"/>
                  </a:cubicBezTo>
                  <a:lnTo>
                    <a:pt x="0" y="58065"/>
                  </a:lnTo>
                  <a:cubicBezTo>
                    <a:pt x="0" y="42665"/>
                    <a:pt x="6117" y="27896"/>
                    <a:pt x="17007" y="17007"/>
                  </a:cubicBezTo>
                  <a:cubicBezTo>
                    <a:pt x="27896" y="6117"/>
                    <a:pt x="42665" y="0"/>
                    <a:pt x="58065" y="0"/>
                  </a:cubicBezTo>
                  <a:close/>
                </a:path>
              </a:pathLst>
            </a:custGeom>
            <a:solidFill>
              <a:srgbClr val="1370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790942" cy="696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74493" y="5754454"/>
            <a:ext cx="613163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spc="150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Users often compromise privacy "to survive" or avoid conflict.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51321" y="5525854"/>
            <a:ext cx="613163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spc="150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Critical need for Transparency, User Control, Simplicity, and Trust.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3985" y="1498834"/>
            <a:ext cx="6799983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Key Findings: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687272" y="2571750"/>
            <a:ext cx="6799983" cy="2217335"/>
            <a:chOff x="0" y="0"/>
            <a:chExt cx="1790942" cy="5839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90942" cy="583989"/>
            </a:xfrm>
            <a:custGeom>
              <a:avLst/>
              <a:gdLst/>
              <a:ahLst/>
              <a:cxnLst/>
              <a:rect l="l" t="t" r="r" b="b"/>
              <a:pathLst>
                <a:path w="1790942" h="583989">
                  <a:moveTo>
                    <a:pt x="58065" y="0"/>
                  </a:moveTo>
                  <a:lnTo>
                    <a:pt x="1732878" y="0"/>
                  </a:lnTo>
                  <a:cubicBezTo>
                    <a:pt x="1748277" y="0"/>
                    <a:pt x="1763046" y="6117"/>
                    <a:pt x="1773936" y="17007"/>
                  </a:cubicBezTo>
                  <a:cubicBezTo>
                    <a:pt x="1784825" y="27896"/>
                    <a:pt x="1790942" y="42665"/>
                    <a:pt x="1790942" y="58065"/>
                  </a:cubicBezTo>
                  <a:lnTo>
                    <a:pt x="1790942" y="525925"/>
                  </a:lnTo>
                  <a:cubicBezTo>
                    <a:pt x="1790942" y="541325"/>
                    <a:pt x="1784825" y="556093"/>
                    <a:pt x="1773936" y="566983"/>
                  </a:cubicBezTo>
                  <a:cubicBezTo>
                    <a:pt x="1763046" y="577872"/>
                    <a:pt x="1748277" y="583989"/>
                    <a:pt x="1732878" y="583989"/>
                  </a:cubicBezTo>
                  <a:lnTo>
                    <a:pt x="58065" y="583989"/>
                  </a:lnTo>
                  <a:cubicBezTo>
                    <a:pt x="42665" y="583989"/>
                    <a:pt x="27896" y="577872"/>
                    <a:pt x="17007" y="566983"/>
                  </a:cubicBezTo>
                  <a:cubicBezTo>
                    <a:pt x="6117" y="556093"/>
                    <a:pt x="0" y="541325"/>
                    <a:pt x="0" y="525925"/>
                  </a:cubicBezTo>
                  <a:lnTo>
                    <a:pt x="0" y="58065"/>
                  </a:lnTo>
                  <a:cubicBezTo>
                    <a:pt x="0" y="42665"/>
                    <a:pt x="6117" y="27896"/>
                    <a:pt x="17007" y="17007"/>
                  </a:cubicBezTo>
                  <a:cubicBezTo>
                    <a:pt x="27896" y="6117"/>
                    <a:pt x="42665" y="0"/>
                    <a:pt x="58065" y="0"/>
                  </a:cubicBezTo>
                  <a:close/>
                </a:path>
              </a:pathLst>
            </a:custGeom>
            <a:solidFill>
              <a:srgbClr val="1370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790942" cy="631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21449" y="2994617"/>
            <a:ext cx="6131631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 spc="150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73% of bystanders feel uncomfortable with smart home surveillance.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0317" y="8015223"/>
            <a:ext cx="14120047" cy="166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</a:pPr>
            <a:r>
              <a:rPr lang="en-US" sz="6999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Target: Mitigating the "Autocratic" model of home device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252962" y="3416183"/>
            <a:ext cx="9879475" cy="5153530"/>
          </a:xfrm>
          <a:custGeom>
            <a:avLst/>
            <a:gdLst/>
            <a:ahLst/>
            <a:cxnLst/>
            <a:rect l="l" t="t" r="r" b="b"/>
            <a:pathLst>
              <a:path w="9879475" h="5153530">
                <a:moveTo>
                  <a:pt x="0" y="0"/>
                </a:moveTo>
                <a:lnTo>
                  <a:pt x="9879475" y="0"/>
                </a:lnTo>
                <a:lnTo>
                  <a:pt x="9879475" y="5153530"/>
                </a:lnTo>
                <a:lnTo>
                  <a:pt x="0" y="5153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296" t="-16661" r="-94" b="-61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370647" y="6525233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-766102" y="531101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Paper Solution Overview</a:t>
            </a:r>
          </a:p>
        </p:txBody>
      </p:sp>
      <p:sp>
        <p:nvSpPr>
          <p:cNvPr id="8" name="Freeform 8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400000">
            <a:off x="-113472" y="1038324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38225" y="3049723"/>
            <a:ext cx="6830636" cy="587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The original app proposed in the paper was not accessible.</a:t>
            </a:r>
          </a:p>
          <a:p>
            <a:pPr algn="just">
              <a:lnSpc>
                <a:spcPts val="4200"/>
              </a:lnSpc>
            </a:pPr>
            <a:endParaRPr lang="en-US" sz="3500" spc="175">
              <a:solidFill>
                <a:srgbClr val="072F48"/>
              </a:solidFill>
              <a:latin typeface="Anek Bangla"/>
              <a:ea typeface="Anek Bangla"/>
              <a:cs typeface="Anek Bangla"/>
              <a:sym typeface="Anek Bangla"/>
            </a:endParaRP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 We implemented a full-stack application that covers all core requirements.</a:t>
            </a:r>
          </a:p>
          <a:p>
            <a:pPr algn="just">
              <a:lnSpc>
                <a:spcPts val="4200"/>
              </a:lnSpc>
            </a:pPr>
            <a:endParaRPr lang="en-US" sz="3500" spc="175">
              <a:solidFill>
                <a:srgbClr val="072F48"/>
              </a:solidFill>
              <a:latin typeface="Anek Bangla"/>
              <a:ea typeface="Anek Bangla"/>
              <a:cs typeface="Anek Bangla"/>
              <a:sym typeface="Anek Bangla"/>
            </a:endParaRP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The system simulates privacy modes and automated enforcement as a proof-of-concept.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70647" y="6525233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505058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72F48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Our Solution Overview</a:t>
            </a:r>
          </a:p>
        </p:txBody>
      </p:sp>
      <p:sp>
        <p:nvSpPr>
          <p:cNvPr id="7" name="Freeform 7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5400000">
            <a:off x="-113472" y="1038324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968248" y="2117403"/>
            <a:ext cx="4638504" cy="7842893"/>
          </a:xfrm>
          <a:custGeom>
            <a:avLst/>
            <a:gdLst/>
            <a:ahLst/>
            <a:cxnLst/>
            <a:rect l="l" t="t" r="r" b="b"/>
            <a:pathLst>
              <a:path w="4638504" h="7842893">
                <a:moveTo>
                  <a:pt x="0" y="0"/>
                </a:moveTo>
                <a:lnTo>
                  <a:pt x="4638504" y="0"/>
                </a:lnTo>
                <a:lnTo>
                  <a:pt x="4638504" y="7842894"/>
                </a:lnTo>
                <a:lnTo>
                  <a:pt x="0" y="7842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5293" t="-1044" r="-355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2562225"/>
            <a:ext cx="9531176" cy="694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Mobile-First PWA:</a:t>
            </a: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 Accessible via browser; no app store download required to lower the barrier for guests.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Zero-Config Authentication:</a:t>
            </a: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 Simple 4-digit home code (simulating a QR scan) for instant access.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Negotiated Privacy:</a:t>
            </a: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 Provides three pre-configured privacy modes to balance host security and guest comfort.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Automated Enforcement:</a:t>
            </a:r>
            <a:r>
              <a:rPr lang="en-US" sz="3500" spc="175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 Rules are applied instantly across the simulated device network.</a:t>
            </a:r>
          </a:p>
          <a:p>
            <a:pPr algn="just">
              <a:lnSpc>
                <a:spcPts val="4200"/>
              </a:lnSpc>
            </a:pPr>
            <a:endParaRPr lang="en-US" sz="3500" spc="175">
              <a:solidFill>
                <a:srgbClr val="072F48"/>
              </a:solidFill>
              <a:latin typeface="Anek Bangla"/>
              <a:ea typeface="Anek Bangla"/>
              <a:cs typeface="Anek Bangla"/>
              <a:sym typeface="Anek Bang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195136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Technical Architecture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4974957" y="102870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3" y="0"/>
                </a:lnTo>
                <a:lnTo>
                  <a:pt x="2284343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43939" y="4732336"/>
            <a:ext cx="3756561" cy="2192892"/>
          </a:xfrm>
          <a:custGeom>
            <a:avLst/>
            <a:gdLst/>
            <a:ahLst/>
            <a:cxnLst/>
            <a:rect l="l" t="t" r="r" b="b"/>
            <a:pathLst>
              <a:path w="3756561" h="2192892">
                <a:moveTo>
                  <a:pt x="0" y="0"/>
                </a:moveTo>
                <a:lnTo>
                  <a:pt x="3756561" y="0"/>
                </a:lnTo>
                <a:lnTo>
                  <a:pt x="3756561" y="2192892"/>
                </a:lnTo>
                <a:lnTo>
                  <a:pt x="0" y="2192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096474" y="2821229"/>
            <a:ext cx="3508478" cy="2691849"/>
          </a:xfrm>
          <a:custGeom>
            <a:avLst/>
            <a:gdLst/>
            <a:ahLst/>
            <a:cxnLst/>
            <a:rect l="l" t="t" r="r" b="b"/>
            <a:pathLst>
              <a:path w="3508478" h="2691849">
                <a:moveTo>
                  <a:pt x="0" y="0"/>
                </a:moveTo>
                <a:lnTo>
                  <a:pt x="3508478" y="0"/>
                </a:lnTo>
                <a:lnTo>
                  <a:pt x="3508478" y="2691849"/>
                </a:lnTo>
                <a:lnTo>
                  <a:pt x="0" y="26918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3780" t="-20865" r="-52298" b="-226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096474" y="6652230"/>
            <a:ext cx="4041308" cy="1063020"/>
          </a:xfrm>
          <a:custGeom>
            <a:avLst/>
            <a:gdLst/>
            <a:ahLst/>
            <a:cxnLst/>
            <a:rect l="l" t="t" r="r" b="b"/>
            <a:pathLst>
              <a:path w="4041308" h="1063020">
                <a:moveTo>
                  <a:pt x="0" y="0"/>
                </a:moveTo>
                <a:lnTo>
                  <a:pt x="4041308" y="0"/>
                </a:lnTo>
                <a:lnTo>
                  <a:pt x="4041308" y="1063020"/>
                </a:lnTo>
                <a:lnTo>
                  <a:pt x="0" y="10630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211" t="-64050" r="-3163" b="-612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026819" y="3293946"/>
            <a:ext cx="10404734" cy="587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Frontend: React 18 + TypeScript + Vite for a high-performance, type-safe environment.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State Management: Zustand, a lightweight store used to manage real-time device states and UI themes.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Styling: Tailwind CSS v4 featuring a custom theme for Glassmorphism and mobile responsiveness.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Architecture: Feature-based folder structure to ensure code maintainability and scalability.</a:t>
            </a:r>
          </a:p>
          <a:p>
            <a:pPr algn="just">
              <a:lnSpc>
                <a:spcPts val="4200"/>
              </a:lnSpc>
            </a:pPr>
            <a:endParaRPr lang="en-US" sz="3500" b="1" spc="175">
              <a:solidFill>
                <a:srgbClr val="FFFFFF"/>
              </a:solidFill>
              <a:latin typeface="Anek Bangla Medium"/>
              <a:ea typeface="Anek Bangla Medium"/>
              <a:cs typeface="Anek Bangla Medium"/>
              <a:sym typeface="Anek Bangla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142113" y="3239732"/>
            <a:ext cx="8117187" cy="5319279"/>
          </a:xfrm>
          <a:custGeom>
            <a:avLst/>
            <a:gdLst/>
            <a:ahLst/>
            <a:cxnLst/>
            <a:rect l="l" t="t" r="r" b="b"/>
            <a:pathLst>
              <a:path w="8117187" h="5319279">
                <a:moveTo>
                  <a:pt x="0" y="0"/>
                </a:moveTo>
                <a:lnTo>
                  <a:pt x="8117187" y="0"/>
                </a:lnTo>
                <a:lnTo>
                  <a:pt x="8117187" y="5319279"/>
                </a:lnTo>
                <a:lnTo>
                  <a:pt x="0" y="5319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41934" y="1417282"/>
            <a:ext cx="14431811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Privacy Modes (Core Feature)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15010" y="5081127"/>
            <a:ext cx="6102176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Security Mode: </a:t>
            </a:r>
          </a:p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Priority on home protection. All sensors and cameras are 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84298" y="3239732"/>
            <a:ext cx="8575002" cy="5294855"/>
          </a:xfrm>
          <a:custGeom>
            <a:avLst/>
            <a:gdLst/>
            <a:ahLst/>
            <a:cxnLst/>
            <a:rect l="l" t="t" r="r" b="b"/>
            <a:pathLst>
              <a:path w="8575002" h="5294855">
                <a:moveTo>
                  <a:pt x="0" y="0"/>
                </a:moveTo>
                <a:lnTo>
                  <a:pt x="8575002" y="0"/>
                </a:lnTo>
                <a:lnTo>
                  <a:pt x="8575002" y="5294856"/>
                </a:lnTo>
                <a:lnTo>
                  <a:pt x="0" y="52948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41934" y="1417282"/>
            <a:ext cx="14431811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Privacy Modes (Core Feature)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436" y="4870518"/>
            <a:ext cx="7172218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Social/Guest Mode: </a:t>
            </a:r>
          </a:p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Optimized for conversation. Cameras are masked/covered, but smart speakers remain active for music or info.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005608" y="3239732"/>
            <a:ext cx="8196956" cy="5292129"/>
          </a:xfrm>
          <a:custGeom>
            <a:avLst/>
            <a:gdLst/>
            <a:ahLst/>
            <a:cxnLst/>
            <a:rect l="l" t="t" r="r" b="b"/>
            <a:pathLst>
              <a:path w="8196956" h="5292129">
                <a:moveTo>
                  <a:pt x="0" y="0"/>
                </a:moveTo>
                <a:lnTo>
                  <a:pt x="8196956" y="0"/>
                </a:lnTo>
                <a:lnTo>
                  <a:pt x="8196956" y="5292129"/>
                </a:lnTo>
                <a:lnTo>
                  <a:pt x="0" y="5292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41934" y="1417282"/>
            <a:ext cx="14431811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Privacy Modes (Core Feature)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436" y="4870518"/>
            <a:ext cx="7172218" cy="374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Private/Prayer Mode:</a:t>
            </a:r>
          </a:p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Maximum privacy. ALL sensors disabled in specific rooms to accommodate cultural/religious needs (e.g., changing clothes or prayer).</a:t>
            </a:r>
          </a:p>
          <a:p>
            <a:pPr algn="just">
              <a:lnSpc>
                <a:spcPts val="4200"/>
              </a:lnSpc>
            </a:pPr>
            <a:endParaRPr lang="en-US" sz="3500" b="1" spc="175">
              <a:solidFill>
                <a:srgbClr val="FFFFFF"/>
              </a:solidFill>
              <a:latin typeface="Anek Bangla Medium"/>
              <a:ea typeface="Anek Bangla Medium"/>
              <a:cs typeface="Anek Bangla Medium"/>
              <a:sym typeface="Anek Bangla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05647" y="1471613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140473" y="-96837"/>
            <a:ext cx="16230600" cy="292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Key Features</a:t>
            </a:r>
          </a:p>
          <a:p>
            <a:pPr algn="ctr">
              <a:lnSpc>
                <a:spcPts val="4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Device Transparency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347680" y="170972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5655976" y="7654976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-140473" y="6596062"/>
            <a:ext cx="1842847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037439" y="3294714"/>
            <a:ext cx="5926122" cy="1830457"/>
            <a:chOff x="0" y="0"/>
            <a:chExt cx="1560789" cy="4820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0789" cy="482096"/>
            </a:xfrm>
            <a:custGeom>
              <a:avLst/>
              <a:gdLst/>
              <a:ahLst/>
              <a:cxnLst/>
              <a:rect l="l" t="t" r="r" b="b"/>
              <a:pathLst>
                <a:path w="1560789" h="482096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415469"/>
                  </a:lnTo>
                  <a:cubicBezTo>
                    <a:pt x="1560789" y="433139"/>
                    <a:pt x="1553770" y="450086"/>
                    <a:pt x="1541275" y="462581"/>
                  </a:cubicBezTo>
                  <a:cubicBezTo>
                    <a:pt x="1528780" y="475076"/>
                    <a:pt x="1511833" y="482096"/>
                    <a:pt x="1494163" y="482096"/>
                  </a:cubicBezTo>
                  <a:lnTo>
                    <a:pt x="66627" y="482096"/>
                  </a:lnTo>
                  <a:cubicBezTo>
                    <a:pt x="29830" y="482096"/>
                    <a:pt x="0" y="452266"/>
                    <a:pt x="0" y="415469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014E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560789" cy="529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12996" y="3528403"/>
            <a:ext cx="537500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Real-Time Inventory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All active smart devices are visible to the guest at all times.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140951" y="3294714"/>
            <a:ext cx="5926122" cy="2082148"/>
            <a:chOff x="0" y="0"/>
            <a:chExt cx="1560789" cy="5483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60789" cy="548385"/>
            </a:xfrm>
            <a:custGeom>
              <a:avLst/>
              <a:gdLst/>
              <a:ahLst/>
              <a:cxnLst/>
              <a:rect l="l" t="t" r="r" b="b"/>
              <a:pathLst>
                <a:path w="1560789" h="548385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481758"/>
                  </a:lnTo>
                  <a:cubicBezTo>
                    <a:pt x="1560789" y="518555"/>
                    <a:pt x="1530960" y="548385"/>
                    <a:pt x="1494163" y="548385"/>
                  </a:cubicBezTo>
                  <a:lnTo>
                    <a:pt x="66627" y="548385"/>
                  </a:lnTo>
                  <a:cubicBezTo>
                    <a:pt x="29830" y="548385"/>
                    <a:pt x="0" y="518555"/>
                    <a:pt x="0" y="481758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BFE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60789" cy="596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552015" y="3432475"/>
            <a:ext cx="5103993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Spatial Grouping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Devices are organized by room (Living Room, Kitchen, etc.) for better context.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872026" y="7382211"/>
            <a:ext cx="5926122" cy="2196012"/>
            <a:chOff x="0" y="0"/>
            <a:chExt cx="1560789" cy="5783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60789" cy="578373"/>
            </a:xfrm>
            <a:custGeom>
              <a:avLst/>
              <a:gdLst/>
              <a:ahLst/>
              <a:cxnLst/>
              <a:rect l="l" t="t" r="r" b="b"/>
              <a:pathLst>
                <a:path w="1560789" h="578373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511747"/>
                  </a:lnTo>
                  <a:cubicBezTo>
                    <a:pt x="1560789" y="548544"/>
                    <a:pt x="1530960" y="578373"/>
                    <a:pt x="1494163" y="578373"/>
                  </a:cubicBezTo>
                  <a:lnTo>
                    <a:pt x="66627" y="578373"/>
                  </a:lnTo>
                  <a:cubicBezTo>
                    <a:pt x="29830" y="578373"/>
                    <a:pt x="0" y="548544"/>
                    <a:pt x="0" y="511747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072F48"/>
            </a:solidFill>
            <a:ln w="38100" cap="rnd">
              <a:solidFill>
                <a:srgbClr val="1370A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560789" cy="625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104012" y="7565817"/>
            <a:ext cx="5342468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Privacy Notices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Clear explanations of what data each device state collects (or stops collecting).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313043" y="7329488"/>
            <a:ext cx="5926122" cy="2212480"/>
            <a:chOff x="0" y="0"/>
            <a:chExt cx="1560789" cy="5827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60789" cy="582711"/>
            </a:xfrm>
            <a:custGeom>
              <a:avLst/>
              <a:gdLst/>
              <a:ahLst/>
              <a:cxnLst/>
              <a:rect l="l" t="t" r="r" b="b"/>
              <a:pathLst>
                <a:path w="1560789" h="582711">
                  <a:moveTo>
                    <a:pt x="66627" y="0"/>
                  </a:moveTo>
                  <a:lnTo>
                    <a:pt x="1494163" y="0"/>
                  </a:lnTo>
                  <a:cubicBezTo>
                    <a:pt x="1530960" y="0"/>
                    <a:pt x="1560789" y="29830"/>
                    <a:pt x="1560789" y="66627"/>
                  </a:cubicBezTo>
                  <a:lnTo>
                    <a:pt x="1560789" y="516084"/>
                  </a:lnTo>
                  <a:cubicBezTo>
                    <a:pt x="1560789" y="552881"/>
                    <a:pt x="1530960" y="582711"/>
                    <a:pt x="1494163" y="582711"/>
                  </a:cubicBezTo>
                  <a:lnTo>
                    <a:pt x="66627" y="582711"/>
                  </a:lnTo>
                  <a:cubicBezTo>
                    <a:pt x="29830" y="582711"/>
                    <a:pt x="0" y="552881"/>
                    <a:pt x="0" y="516084"/>
                  </a:cubicBezTo>
                  <a:lnTo>
                    <a:pt x="0" y="66627"/>
                  </a:lnTo>
                  <a:cubicBezTo>
                    <a:pt x="0" y="29830"/>
                    <a:pt x="29830" y="0"/>
                    <a:pt x="66627" y="0"/>
                  </a:cubicBezTo>
                  <a:close/>
                </a:path>
              </a:pathLst>
            </a:custGeom>
            <a:solidFill>
              <a:srgbClr val="BFE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560789" cy="630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704354" y="7565817"/>
            <a:ext cx="5143500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Status Badges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72F48"/>
                </a:solidFill>
                <a:latin typeface="Anek Bangla"/>
                <a:ea typeface="Anek Bangla"/>
                <a:cs typeface="Anek Bangla"/>
                <a:sym typeface="Anek Bangla"/>
              </a:rPr>
              <a:t>Instant visual feedback via badges: Active, Masked, or Disabled.</a:t>
            </a:r>
          </a:p>
        </p:txBody>
      </p:sp>
      <p:sp>
        <p:nvSpPr>
          <p:cNvPr id="28" name="AutoShape 28"/>
          <p:cNvSpPr/>
          <p:nvPr/>
        </p:nvSpPr>
        <p:spPr>
          <a:xfrm flipH="1" flipV="1">
            <a:off x="4000500" y="5125171"/>
            <a:ext cx="0" cy="148994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H="1" flipV="1">
            <a:off x="11104012" y="5376862"/>
            <a:ext cx="0" cy="12382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V="1">
            <a:off x="6276104" y="6540263"/>
            <a:ext cx="0" cy="7892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V="1">
            <a:off x="13835087" y="6540263"/>
            <a:ext cx="0" cy="84194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85436" y="1603375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Smart Rule Engine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4974957" y="102870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3" y="0"/>
                </a:lnTo>
                <a:lnTo>
                  <a:pt x="2284343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971782" y="3810000"/>
            <a:ext cx="14344436" cy="480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just">
              <a:lnSpc>
                <a:spcPts val="4799"/>
              </a:lnSpc>
              <a:buFont typeface="Arial"/>
              <a:buChar char="•"/>
            </a:pPr>
            <a:r>
              <a:rPr lang="en-US" sz="3999" b="1" spc="199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Logic Layer: </a:t>
            </a:r>
            <a:r>
              <a:rPr lang="en-US" sz="3999" spc="199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Maps selected Privacy Modes to specific device hardware commands.</a:t>
            </a:r>
          </a:p>
          <a:p>
            <a:pPr marL="863598" lvl="1" indent="-431799" algn="just">
              <a:lnSpc>
                <a:spcPts val="4799"/>
              </a:lnSpc>
              <a:buFont typeface="Arial"/>
              <a:buChar char="•"/>
            </a:pPr>
            <a:r>
              <a:rPr lang="en-US" sz="3999" b="1" spc="199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Automation Flow: </a:t>
            </a:r>
            <a:r>
              <a:rPr lang="en-US" sz="3999" spc="199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1. User selects mode (e.g., Social). 2. Engine identifies all cameras in common areas. 3. Engine triggers "Mask" state (simulated).</a:t>
            </a:r>
          </a:p>
          <a:p>
            <a:pPr marL="863598" lvl="1" indent="-431799" algn="just">
              <a:lnSpc>
                <a:spcPts val="4799"/>
              </a:lnSpc>
              <a:buFont typeface="Arial"/>
              <a:buChar char="•"/>
            </a:pPr>
            <a:r>
              <a:rPr lang="en-US" sz="3999" b="1" spc="199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Immediate Feedback: </a:t>
            </a:r>
            <a:r>
              <a:rPr lang="en-US" sz="3999" spc="199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UI updates status badges and icons globally across the app without refresh.</a:t>
            </a:r>
          </a:p>
          <a:p>
            <a:pPr algn="just">
              <a:lnSpc>
                <a:spcPts val="4799"/>
              </a:lnSpc>
            </a:pPr>
            <a:endParaRPr lang="en-US" sz="3999" spc="199">
              <a:solidFill>
                <a:srgbClr val="FFFFFF"/>
              </a:solidFill>
              <a:latin typeface="Anek Bangla"/>
              <a:ea typeface="Anek Bangla"/>
              <a:cs typeface="Anek Bangla"/>
              <a:sym typeface="Anek Bangl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501805" y="3448050"/>
            <a:ext cx="4853980" cy="5838767"/>
          </a:xfrm>
          <a:custGeom>
            <a:avLst/>
            <a:gdLst/>
            <a:ahLst/>
            <a:cxnLst/>
            <a:rect l="l" t="t" r="r" b="b"/>
            <a:pathLst>
              <a:path w="4853980" h="5838767">
                <a:moveTo>
                  <a:pt x="0" y="0"/>
                </a:moveTo>
                <a:lnTo>
                  <a:pt x="4853980" y="0"/>
                </a:lnTo>
                <a:lnTo>
                  <a:pt x="4853980" y="5838767"/>
                </a:lnTo>
                <a:lnTo>
                  <a:pt x="0" y="58387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111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686718" y="3419533"/>
            <a:ext cx="5264640" cy="5838767"/>
          </a:xfrm>
          <a:custGeom>
            <a:avLst/>
            <a:gdLst/>
            <a:ahLst/>
            <a:cxnLst/>
            <a:rect l="l" t="t" r="r" b="b"/>
            <a:pathLst>
              <a:path w="5264640" h="5838767">
                <a:moveTo>
                  <a:pt x="0" y="0"/>
                </a:moveTo>
                <a:lnTo>
                  <a:pt x="5264639" y="0"/>
                </a:lnTo>
                <a:lnTo>
                  <a:pt x="5264639" y="5838767"/>
                </a:lnTo>
                <a:lnTo>
                  <a:pt x="0" y="58387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856189" y="505058"/>
            <a:ext cx="14431811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81065" y="2562225"/>
            <a:ext cx="950643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Entry: Guest and hosts enter the 4-digit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DCF0F2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Guest Workflow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Viewing the Status of House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081534" y="3621654"/>
            <a:ext cx="5202597" cy="3649884"/>
          </a:xfrm>
          <a:custGeom>
            <a:avLst/>
            <a:gdLst/>
            <a:ahLst/>
            <a:cxnLst/>
            <a:rect l="l" t="t" r="r" b="b"/>
            <a:pathLst>
              <a:path w="5202597" h="3649884">
                <a:moveTo>
                  <a:pt x="0" y="0"/>
                </a:moveTo>
                <a:lnTo>
                  <a:pt x="5202596" y="0"/>
                </a:lnTo>
                <a:lnTo>
                  <a:pt x="5202596" y="3649883"/>
                </a:lnTo>
                <a:lnTo>
                  <a:pt x="0" y="36498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5436" y="3621654"/>
            <a:ext cx="5225739" cy="3649884"/>
          </a:xfrm>
          <a:custGeom>
            <a:avLst/>
            <a:gdLst/>
            <a:ahLst/>
            <a:cxnLst/>
            <a:rect l="l" t="t" r="r" b="b"/>
            <a:pathLst>
              <a:path w="5225739" h="3649884">
                <a:moveTo>
                  <a:pt x="0" y="0"/>
                </a:moveTo>
                <a:lnTo>
                  <a:pt x="5225739" y="0"/>
                </a:lnTo>
                <a:lnTo>
                  <a:pt x="5225739" y="3649883"/>
                </a:lnTo>
                <a:lnTo>
                  <a:pt x="0" y="36498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626087" y="5446596"/>
            <a:ext cx="5141122" cy="3649884"/>
          </a:xfrm>
          <a:custGeom>
            <a:avLst/>
            <a:gdLst/>
            <a:ahLst/>
            <a:cxnLst/>
            <a:rect l="l" t="t" r="r" b="b"/>
            <a:pathLst>
              <a:path w="5141122" h="3649884">
                <a:moveTo>
                  <a:pt x="0" y="0"/>
                </a:moveTo>
                <a:lnTo>
                  <a:pt x="5141122" y="0"/>
                </a:lnTo>
                <a:lnTo>
                  <a:pt x="5141122" y="3649883"/>
                </a:lnTo>
                <a:lnTo>
                  <a:pt x="0" y="36498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856189" y="361950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5240F6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Host Workflow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Managing Modes (Security vs Social).</a:t>
            </a:r>
          </a:p>
        </p:txBody>
      </p:sp>
      <p:sp>
        <p:nvSpPr>
          <p:cNvPr id="11" name="Freeform 11"/>
          <p:cNvSpPr/>
          <p:nvPr/>
        </p:nvSpPr>
        <p:spPr>
          <a:xfrm>
            <a:off x="3913109" y="3190641"/>
            <a:ext cx="10461782" cy="6644075"/>
          </a:xfrm>
          <a:custGeom>
            <a:avLst/>
            <a:gdLst/>
            <a:ahLst/>
            <a:cxnLst/>
            <a:rect l="l" t="t" r="r" b="b"/>
            <a:pathLst>
              <a:path w="10461782" h="6644075">
                <a:moveTo>
                  <a:pt x="0" y="0"/>
                </a:moveTo>
                <a:lnTo>
                  <a:pt x="10461782" y="0"/>
                </a:lnTo>
                <a:lnTo>
                  <a:pt x="10461782" y="6644075"/>
                </a:lnTo>
                <a:lnTo>
                  <a:pt x="0" y="6644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940431" y="3826701"/>
            <a:ext cx="7262134" cy="4905730"/>
          </a:xfrm>
          <a:custGeom>
            <a:avLst/>
            <a:gdLst/>
            <a:ahLst/>
            <a:cxnLst/>
            <a:rect l="l" t="t" r="r" b="b"/>
            <a:pathLst>
              <a:path w="7262134" h="4905730">
                <a:moveTo>
                  <a:pt x="0" y="0"/>
                </a:moveTo>
                <a:lnTo>
                  <a:pt x="7262133" y="0"/>
                </a:lnTo>
                <a:lnTo>
                  <a:pt x="7262133" y="4905730"/>
                </a:lnTo>
                <a:lnTo>
                  <a:pt x="0" y="490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643014" y="2997143"/>
            <a:ext cx="6500986" cy="6564846"/>
          </a:xfrm>
          <a:custGeom>
            <a:avLst/>
            <a:gdLst/>
            <a:ahLst/>
            <a:cxnLst/>
            <a:rect l="l" t="t" r="r" b="b"/>
            <a:pathLst>
              <a:path w="6500986" h="6564846">
                <a:moveTo>
                  <a:pt x="0" y="0"/>
                </a:moveTo>
                <a:lnTo>
                  <a:pt x="6500986" y="0"/>
                </a:lnTo>
                <a:lnTo>
                  <a:pt x="6500986" y="6564846"/>
                </a:lnTo>
                <a:lnTo>
                  <a:pt x="0" y="65648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DCF0F2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Guest Workflow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Viewing Status (Transparency).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DCF0F2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Guest Workflow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Negotiating Privacy (Requesting masking).</a:t>
            </a:r>
          </a:p>
        </p:txBody>
      </p:sp>
      <p:sp>
        <p:nvSpPr>
          <p:cNvPr id="11" name="Freeform 11"/>
          <p:cNvSpPr/>
          <p:nvPr/>
        </p:nvSpPr>
        <p:spPr>
          <a:xfrm>
            <a:off x="2387196" y="3983131"/>
            <a:ext cx="6540479" cy="4988718"/>
          </a:xfrm>
          <a:custGeom>
            <a:avLst/>
            <a:gdLst/>
            <a:ahLst/>
            <a:cxnLst/>
            <a:rect l="l" t="t" r="r" b="b"/>
            <a:pathLst>
              <a:path w="6540479" h="4988718">
                <a:moveTo>
                  <a:pt x="0" y="0"/>
                </a:moveTo>
                <a:lnTo>
                  <a:pt x="6540479" y="0"/>
                </a:lnTo>
                <a:lnTo>
                  <a:pt x="6540479" y="4988719"/>
                </a:lnTo>
                <a:lnTo>
                  <a:pt x="0" y="49887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921994" y="3190034"/>
            <a:ext cx="6195135" cy="6574913"/>
          </a:xfrm>
          <a:custGeom>
            <a:avLst/>
            <a:gdLst/>
            <a:ahLst/>
            <a:cxnLst/>
            <a:rect l="l" t="t" r="r" b="b"/>
            <a:pathLst>
              <a:path w="6195135" h="6574913">
                <a:moveTo>
                  <a:pt x="0" y="0"/>
                </a:moveTo>
                <a:lnTo>
                  <a:pt x="6195134" y="0"/>
                </a:lnTo>
                <a:lnTo>
                  <a:pt x="6195134" y="6574913"/>
                </a:lnTo>
                <a:lnTo>
                  <a:pt x="0" y="65749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612859" y="4015091"/>
            <a:ext cx="6955277" cy="5009745"/>
          </a:xfrm>
          <a:custGeom>
            <a:avLst/>
            <a:gdLst/>
            <a:ahLst/>
            <a:cxnLst/>
            <a:rect l="l" t="t" r="r" b="b"/>
            <a:pathLst>
              <a:path w="6955277" h="5009745">
                <a:moveTo>
                  <a:pt x="0" y="0"/>
                </a:moveTo>
                <a:lnTo>
                  <a:pt x="6955277" y="0"/>
                </a:lnTo>
                <a:lnTo>
                  <a:pt x="6955277" y="5009745"/>
                </a:lnTo>
                <a:lnTo>
                  <a:pt x="0" y="50097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92" t="-1063" r="-5830" b="-29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DCF0F2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Guest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 dirty="0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Restoring Access (Asking to turn 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971686" y="3469410"/>
            <a:ext cx="10344627" cy="5336826"/>
          </a:xfrm>
          <a:custGeom>
            <a:avLst/>
            <a:gdLst/>
            <a:ahLst/>
            <a:cxnLst/>
            <a:rect l="l" t="t" r="r" b="b"/>
            <a:pathLst>
              <a:path w="10344627" h="5336826">
                <a:moveTo>
                  <a:pt x="0" y="0"/>
                </a:moveTo>
                <a:lnTo>
                  <a:pt x="10344628" y="0"/>
                </a:lnTo>
                <a:lnTo>
                  <a:pt x="10344628" y="5336826"/>
                </a:lnTo>
                <a:lnTo>
                  <a:pt x="0" y="5336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367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5240F6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Host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Handling Guest Requests.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79898" y="3091083"/>
            <a:ext cx="5155660" cy="6031149"/>
          </a:xfrm>
          <a:custGeom>
            <a:avLst/>
            <a:gdLst/>
            <a:ahLst/>
            <a:cxnLst/>
            <a:rect l="l" t="t" r="r" b="b"/>
            <a:pathLst>
              <a:path w="5155660" h="6031149">
                <a:moveTo>
                  <a:pt x="0" y="0"/>
                </a:moveTo>
                <a:lnTo>
                  <a:pt x="5155659" y="0"/>
                </a:lnTo>
                <a:lnTo>
                  <a:pt x="5155659" y="6031149"/>
                </a:lnTo>
                <a:lnTo>
                  <a:pt x="0" y="60311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250" t="-2573" r="-3346" b="-10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640318" y="3091083"/>
            <a:ext cx="5107021" cy="6079787"/>
          </a:xfrm>
          <a:custGeom>
            <a:avLst/>
            <a:gdLst/>
            <a:ahLst/>
            <a:cxnLst/>
            <a:rect l="l" t="t" r="r" b="b"/>
            <a:pathLst>
              <a:path w="5107021" h="6079787">
                <a:moveTo>
                  <a:pt x="0" y="0"/>
                </a:moveTo>
                <a:lnTo>
                  <a:pt x="5107022" y="0"/>
                </a:lnTo>
                <a:lnTo>
                  <a:pt x="5107022" y="6079788"/>
                </a:lnTo>
                <a:lnTo>
                  <a:pt x="0" y="60797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052" t="-969" r="-5866" b="-18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353395" y="4173285"/>
            <a:ext cx="5569085" cy="3866745"/>
          </a:xfrm>
          <a:custGeom>
            <a:avLst/>
            <a:gdLst/>
            <a:ahLst/>
            <a:cxnLst/>
            <a:rect l="l" t="t" r="r" b="b"/>
            <a:pathLst>
              <a:path w="5569085" h="3866745">
                <a:moveTo>
                  <a:pt x="0" y="0"/>
                </a:moveTo>
                <a:lnTo>
                  <a:pt x="5569085" y="0"/>
                </a:lnTo>
                <a:lnTo>
                  <a:pt x="5569085" y="3866745"/>
                </a:lnTo>
                <a:lnTo>
                  <a:pt x="0" y="38667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520" t="-4069" r="-5017" b="-1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5240F6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Host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Admin Tools (CRUD).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824936" y="3981097"/>
            <a:ext cx="6739431" cy="4545426"/>
          </a:xfrm>
          <a:custGeom>
            <a:avLst/>
            <a:gdLst/>
            <a:ahLst/>
            <a:cxnLst/>
            <a:rect l="l" t="t" r="r" b="b"/>
            <a:pathLst>
              <a:path w="6739431" h="4545426">
                <a:moveTo>
                  <a:pt x="0" y="0"/>
                </a:moveTo>
                <a:lnTo>
                  <a:pt x="6739431" y="0"/>
                </a:lnTo>
                <a:lnTo>
                  <a:pt x="6739431" y="4545426"/>
                </a:lnTo>
                <a:lnTo>
                  <a:pt x="0" y="45454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985555" y="3981097"/>
            <a:ext cx="6654427" cy="4545426"/>
          </a:xfrm>
          <a:custGeom>
            <a:avLst/>
            <a:gdLst/>
            <a:ahLst/>
            <a:cxnLst/>
            <a:rect l="l" t="t" r="r" b="b"/>
            <a:pathLst>
              <a:path w="6654427" h="4545426">
                <a:moveTo>
                  <a:pt x="0" y="0"/>
                </a:moveTo>
                <a:lnTo>
                  <a:pt x="6654427" y="0"/>
                </a:lnTo>
                <a:lnTo>
                  <a:pt x="6654427" y="4545426"/>
                </a:lnTo>
                <a:lnTo>
                  <a:pt x="0" y="45454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626400" y="1338439"/>
            <a:ext cx="10891390" cy="966611"/>
          </a:xfrm>
          <a:custGeom>
            <a:avLst/>
            <a:gdLst/>
            <a:ahLst/>
            <a:cxnLst/>
            <a:rect l="l" t="t" r="r" b="b"/>
            <a:pathLst>
              <a:path w="10891390" h="966611">
                <a:moveTo>
                  <a:pt x="0" y="0"/>
                </a:moveTo>
                <a:lnTo>
                  <a:pt x="10891389" y="0"/>
                </a:lnTo>
                <a:lnTo>
                  <a:pt x="10891389" y="966611"/>
                </a:lnTo>
                <a:lnTo>
                  <a:pt x="0" y="9666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856189" y="406401"/>
            <a:ext cx="14431811" cy="204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User Experience Flow</a:t>
            </a:r>
          </a:p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5240F6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Host Workflow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51772" y="2295525"/>
            <a:ext cx="1118445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spc="175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  <a:hlinkClick r:id="" action="ppaction://noaction"/>
              </a:rPr>
              <a:t>Admin Tools (Live Feed).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789929"/>
            <a:ext cx="15088428" cy="221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Security &amp; Privacy </a:t>
            </a:r>
          </a:p>
          <a:p>
            <a:pPr algn="ctr">
              <a:lnSpc>
                <a:spcPts val="81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Considerations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347680" y="170972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24000">
            <a:off x="1938184" y="3287907"/>
            <a:ext cx="3723633" cy="3711185"/>
          </a:xfrm>
          <a:custGeom>
            <a:avLst/>
            <a:gdLst/>
            <a:ahLst/>
            <a:cxnLst/>
            <a:rect l="l" t="t" r="r" b="b"/>
            <a:pathLst>
              <a:path w="3723633" h="3711185">
                <a:moveTo>
                  <a:pt x="25729" y="0"/>
                </a:moveTo>
                <a:lnTo>
                  <a:pt x="3723633" y="25817"/>
                </a:lnTo>
                <a:lnTo>
                  <a:pt x="3697904" y="3711186"/>
                </a:lnTo>
                <a:lnTo>
                  <a:pt x="0" y="3685369"/>
                </a:lnTo>
                <a:lnTo>
                  <a:pt x="25729" y="0"/>
                </a:lnTo>
                <a:close/>
              </a:path>
            </a:pathLst>
          </a:custGeom>
          <a:blipFill>
            <a:blip r:embed="rId11"/>
            <a:stretch>
              <a:fillRect l="-1" t="6" r="-1000" b="-10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287500" y="5143500"/>
            <a:ext cx="3665985" cy="3684134"/>
          </a:xfrm>
          <a:custGeom>
            <a:avLst/>
            <a:gdLst/>
            <a:ahLst/>
            <a:cxnLst/>
            <a:rect l="l" t="t" r="r" b="b"/>
            <a:pathLst>
              <a:path w="3665985" h="3684134">
                <a:moveTo>
                  <a:pt x="0" y="0"/>
                </a:moveTo>
                <a:lnTo>
                  <a:pt x="3665985" y="0"/>
                </a:lnTo>
                <a:lnTo>
                  <a:pt x="3665985" y="3684134"/>
                </a:lnTo>
                <a:lnTo>
                  <a:pt x="0" y="36841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299" t="-1243" r="-1931" b="-11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52627" y="3300771"/>
            <a:ext cx="3689362" cy="3685458"/>
          </a:xfrm>
          <a:custGeom>
            <a:avLst/>
            <a:gdLst/>
            <a:ahLst/>
            <a:cxnLst/>
            <a:rect l="l" t="t" r="r" b="b"/>
            <a:pathLst>
              <a:path w="3689362" h="3685458">
                <a:moveTo>
                  <a:pt x="0" y="0"/>
                </a:moveTo>
                <a:lnTo>
                  <a:pt x="3689363" y="0"/>
                </a:lnTo>
                <a:lnTo>
                  <a:pt x="3689363" y="3685458"/>
                </a:lnTo>
                <a:lnTo>
                  <a:pt x="0" y="36854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20" r="-1029" b="-15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6000">
            <a:off x="6083674" y="5140250"/>
            <a:ext cx="3734277" cy="3691959"/>
          </a:xfrm>
          <a:custGeom>
            <a:avLst/>
            <a:gdLst/>
            <a:ahLst/>
            <a:cxnLst/>
            <a:rect l="l" t="t" r="r" b="b"/>
            <a:pathLst>
              <a:path w="3734277" h="3691959">
                <a:moveTo>
                  <a:pt x="6432" y="0"/>
                </a:moveTo>
                <a:lnTo>
                  <a:pt x="3734277" y="6506"/>
                </a:lnTo>
                <a:lnTo>
                  <a:pt x="3727845" y="3691959"/>
                </a:lnTo>
                <a:lnTo>
                  <a:pt x="0" y="3685452"/>
                </a:lnTo>
                <a:lnTo>
                  <a:pt x="6432" y="0"/>
                </a:lnTo>
                <a:close/>
              </a:path>
            </a:pathLst>
          </a:custGeom>
          <a:blipFill>
            <a:blip r:embed="rId14"/>
            <a:stretch>
              <a:fillRect l="-1284" t="-1099" r="-1113" b="-55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hlinkClick r:id="" action="ppaction://noaction"/>
          </p:cNvPr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1661913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0"/>
                </a:moveTo>
                <a:lnTo>
                  <a:pt x="0" y="0"/>
                </a:lnTo>
                <a:lnTo>
                  <a:pt x="0" y="5143500"/>
                </a:lnTo>
                <a:lnTo>
                  <a:pt x="6626087" y="5143500"/>
                </a:lnTo>
                <a:lnTo>
                  <a:pt x="66260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V="1">
            <a:off x="0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5143500"/>
                </a:moveTo>
                <a:lnTo>
                  <a:pt x="6626087" y="5143500"/>
                </a:lnTo>
                <a:lnTo>
                  <a:pt x="6626087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6117128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2232259"/>
                </a:moveTo>
                <a:lnTo>
                  <a:pt x="0" y="2232259"/>
                </a:lnTo>
                <a:lnTo>
                  <a:pt x="0" y="0"/>
                </a:lnTo>
                <a:lnTo>
                  <a:pt x="2170872" y="0"/>
                </a:lnTo>
                <a:lnTo>
                  <a:pt x="2170872" y="22322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0"/>
                </a:moveTo>
                <a:lnTo>
                  <a:pt x="2170872" y="0"/>
                </a:lnTo>
                <a:lnTo>
                  <a:pt x="2170872" y="2232259"/>
                </a:lnTo>
                <a:lnTo>
                  <a:pt x="0" y="223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195136"/>
            <a:ext cx="16230600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Demo &amp; Results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15321553" y="154824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3" y="0"/>
                </a:lnTo>
                <a:lnTo>
                  <a:pt x="2284343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58136" y="3778016"/>
            <a:ext cx="14344436" cy="534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Environment</a:t>
            </a:r>
            <a:r>
              <a:rPr lang="en-US" sz="3500" spc="175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: Live local demo UI available at http://localhost:5173 and server runs at http://localhost:3001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spc="175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https://github.com/MalkocHasan/bystander-privacy-app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Test Scenarios:</a:t>
            </a:r>
          </a:p>
          <a:p>
            <a:pPr marL="1511301" lvl="2" indent="-503767" algn="just">
              <a:lnSpc>
                <a:spcPts val="4200"/>
              </a:lnSpc>
              <a:buFont typeface="Arial"/>
              <a:buChar char="⚬"/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Code 1234:</a:t>
            </a:r>
            <a:r>
              <a:rPr lang="en-US" sz="3500" spc="175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 Complex setup with multiple devices (Cameras, Speakers, Lights).</a:t>
            </a:r>
          </a:p>
          <a:p>
            <a:pPr marL="1511301" lvl="2" indent="-503767" algn="just">
              <a:lnSpc>
                <a:spcPts val="4200"/>
              </a:lnSpc>
              <a:buFont typeface="Arial"/>
              <a:buChar char="⚬"/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Code 5678: </a:t>
            </a:r>
            <a:r>
              <a:rPr lang="en-US" sz="3500" spc="175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Minimalist setup with less devices.</a:t>
            </a:r>
          </a:p>
          <a:p>
            <a:pPr marL="755651" lvl="1" indent="-377825" algn="just">
              <a:lnSpc>
                <a:spcPts val="4200"/>
              </a:lnSpc>
              <a:buFont typeface="Arial"/>
              <a:buChar char="•"/>
            </a:pPr>
            <a:r>
              <a:rPr lang="en-US" sz="3500" b="1" spc="175">
                <a:solidFill>
                  <a:srgbClr val="FFFFFF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Success Metric: </a:t>
            </a:r>
            <a:r>
              <a:rPr lang="en-US" sz="3500" spc="175">
                <a:solidFill>
                  <a:srgbClr val="FFFFFF"/>
                </a:solidFill>
                <a:latin typeface="Anek Bangla"/>
                <a:ea typeface="Anek Bangla"/>
                <a:cs typeface="Anek Bangla"/>
                <a:sym typeface="Anek Bangla"/>
              </a:rPr>
              <a:t>Achieved 100% synchronization between mode selection and device status display.</a:t>
            </a:r>
          </a:p>
          <a:p>
            <a:pPr algn="just">
              <a:lnSpc>
                <a:spcPts val="4200"/>
              </a:lnSpc>
            </a:pPr>
            <a:endParaRPr lang="en-US" sz="3500" spc="175">
              <a:solidFill>
                <a:srgbClr val="FFFFFF"/>
              </a:solidFill>
              <a:latin typeface="Anek Bangla"/>
              <a:ea typeface="Anek Bangla"/>
              <a:cs typeface="Anek Bangla"/>
              <a:sym typeface="Anek Bangl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1371600"/>
            <a:ext cx="15088428" cy="117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9"/>
              </a:lnSpc>
            </a:pPr>
            <a:r>
              <a:rPr lang="en-US" sz="99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Future Enhancements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347680" y="170972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542767" y="3071231"/>
            <a:ext cx="3761982" cy="3781974"/>
          </a:xfrm>
          <a:custGeom>
            <a:avLst/>
            <a:gdLst/>
            <a:ahLst/>
            <a:cxnLst/>
            <a:rect l="l" t="t" r="r" b="b"/>
            <a:pathLst>
              <a:path w="3761982" h="3781974">
                <a:moveTo>
                  <a:pt x="0" y="0"/>
                </a:moveTo>
                <a:lnTo>
                  <a:pt x="3761981" y="0"/>
                </a:lnTo>
                <a:lnTo>
                  <a:pt x="3761981" y="3781974"/>
                </a:lnTo>
                <a:lnTo>
                  <a:pt x="0" y="3781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994" t="-71" r="-14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088648" y="4962218"/>
            <a:ext cx="3787911" cy="3759748"/>
          </a:xfrm>
          <a:custGeom>
            <a:avLst/>
            <a:gdLst/>
            <a:ahLst/>
            <a:cxnLst/>
            <a:rect l="l" t="t" r="r" b="b"/>
            <a:pathLst>
              <a:path w="3787911" h="3759748">
                <a:moveTo>
                  <a:pt x="0" y="0"/>
                </a:moveTo>
                <a:lnTo>
                  <a:pt x="3787911" y="0"/>
                </a:lnTo>
                <a:lnTo>
                  <a:pt x="3787911" y="3759747"/>
                </a:lnTo>
                <a:lnTo>
                  <a:pt x="0" y="37597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98" t="-370" r="-2622" b="-4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971498" y="4962218"/>
            <a:ext cx="3781641" cy="3781974"/>
          </a:xfrm>
          <a:custGeom>
            <a:avLst/>
            <a:gdLst/>
            <a:ahLst/>
            <a:cxnLst/>
            <a:rect l="l" t="t" r="r" b="b"/>
            <a:pathLst>
              <a:path w="3781641" h="3781974">
                <a:moveTo>
                  <a:pt x="0" y="0"/>
                </a:moveTo>
                <a:lnTo>
                  <a:pt x="3781641" y="0"/>
                </a:lnTo>
                <a:lnTo>
                  <a:pt x="3781641" y="3781973"/>
                </a:lnTo>
                <a:lnTo>
                  <a:pt x="0" y="37819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875" t="-14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94156" y="3263626"/>
            <a:ext cx="3728285" cy="3759748"/>
          </a:xfrm>
          <a:custGeom>
            <a:avLst/>
            <a:gdLst/>
            <a:ahLst/>
            <a:cxnLst/>
            <a:rect l="l" t="t" r="r" b="b"/>
            <a:pathLst>
              <a:path w="3728285" h="3759748">
                <a:moveTo>
                  <a:pt x="0" y="0"/>
                </a:moveTo>
                <a:lnTo>
                  <a:pt x="3728284" y="0"/>
                </a:lnTo>
                <a:lnTo>
                  <a:pt x="3728284" y="3759748"/>
                </a:lnTo>
                <a:lnTo>
                  <a:pt x="0" y="37597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124" t="-72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810750" y="6193679"/>
            <a:ext cx="3239369" cy="477467"/>
            <a:chOff x="0" y="0"/>
            <a:chExt cx="853167" cy="1257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3167" cy="125753"/>
            </a:xfrm>
            <a:custGeom>
              <a:avLst/>
              <a:gdLst/>
              <a:ahLst/>
              <a:cxnLst/>
              <a:rect l="l" t="t" r="r" b="b"/>
              <a:pathLst>
                <a:path w="853167" h="125753">
                  <a:moveTo>
                    <a:pt x="62876" y="0"/>
                  </a:moveTo>
                  <a:lnTo>
                    <a:pt x="790291" y="0"/>
                  </a:lnTo>
                  <a:cubicBezTo>
                    <a:pt x="806967" y="0"/>
                    <a:pt x="822959" y="6624"/>
                    <a:pt x="834751" y="18416"/>
                  </a:cubicBezTo>
                  <a:cubicBezTo>
                    <a:pt x="846543" y="30208"/>
                    <a:pt x="853167" y="46200"/>
                    <a:pt x="853167" y="62876"/>
                  </a:cubicBezTo>
                  <a:lnTo>
                    <a:pt x="853167" y="62876"/>
                  </a:lnTo>
                  <a:cubicBezTo>
                    <a:pt x="853167" y="79552"/>
                    <a:pt x="846543" y="95545"/>
                    <a:pt x="834751" y="107337"/>
                  </a:cubicBezTo>
                  <a:cubicBezTo>
                    <a:pt x="822959" y="119128"/>
                    <a:pt x="806967" y="125753"/>
                    <a:pt x="790291" y="125753"/>
                  </a:cubicBezTo>
                  <a:lnTo>
                    <a:pt x="62876" y="125753"/>
                  </a:lnTo>
                  <a:cubicBezTo>
                    <a:pt x="46200" y="125753"/>
                    <a:pt x="30208" y="119128"/>
                    <a:pt x="18416" y="107337"/>
                  </a:cubicBezTo>
                  <a:cubicBezTo>
                    <a:pt x="6624" y="95545"/>
                    <a:pt x="0" y="79552"/>
                    <a:pt x="0" y="62876"/>
                  </a:cubicBezTo>
                  <a:lnTo>
                    <a:pt x="0" y="62876"/>
                  </a:lnTo>
                  <a:cubicBezTo>
                    <a:pt x="0" y="46200"/>
                    <a:pt x="6624" y="30208"/>
                    <a:pt x="18416" y="18416"/>
                  </a:cubicBezTo>
                  <a:cubicBezTo>
                    <a:pt x="30208" y="6624"/>
                    <a:pt x="46200" y="0"/>
                    <a:pt x="62876" y="0"/>
                  </a:cubicBezTo>
                  <a:close/>
                </a:path>
              </a:pathLst>
            </a:custGeom>
            <a:solidFill>
              <a:srgbClr val="FBFB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53167" cy="173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5829" y="6364624"/>
            <a:ext cx="3239369" cy="477467"/>
            <a:chOff x="0" y="0"/>
            <a:chExt cx="853167" cy="1257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3167" cy="125753"/>
            </a:xfrm>
            <a:custGeom>
              <a:avLst/>
              <a:gdLst/>
              <a:ahLst/>
              <a:cxnLst/>
              <a:rect l="l" t="t" r="r" b="b"/>
              <a:pathLst>
                <a:path w="853167" h="125753">
                  <a:moveTo>
                    <a:pt x="62876" y="0"/>
                  </a:moveTo>
                  <a:lnTo>
                    <a:pt x="790291" y="0"/>
                  </a:lnTo>
                  <a:cubicBezTo>
                    <a:pt x="806967" y="0"/>
                    <a:pt x="822959" y="6624"/>
                    <a:pt x="834751" y="18416"/>
                  </a:cubicBezTo>
                  <a:cubicBezTo>
                    <a:pt x="846543" y="30208"/>
                    <a:pt x="853167" y="46200"/>
                    <a:pt x="853167" y="62876"/>
                  </a:cubicBezTo>
                  <a:lnTo>
                    <a:pt x="853167" y="62876"/>
                  </a:lnTo>
                  <a:cubicBezTo>
                    <a:pt x="853167" y="79552"/>
                    <a:pt x="846543" y="95545"/>
                    <a:pt x="834751" y="107337"/>
                  </a:cubicBezTo>
                  <a:cubicBezTo>
                    <a:pt x="822959" y="119128"/>
                    <a:pt x="806967" y="125753"/>
                    <a:pt x="790291" y="125753"/>
                  </a:cubicBezTo>
                  <a:lnTo>
                    <a:pt x="62876" y="125753"/>
                  </a:lnTo>
                  <a:cubicBezTo>
                    <a:pt x="46200" y="125753"/>
                    <a:pt x="30208" y="119128"/>
                    <a:pt x="18416" y="107337"/>
                  </a:cubicBezTo>
                  <a:cubicBezTo>
                    <a:pt x="6624" y="95545"/>
                    <a:pt x="0" y="79552"/>
                    <a:pt x="0" y="62876"/>
                  </a:cubicBezTo>
                  <a:lnTo>
                    <a:pt x="0" y="62876"/>
                  </a:lnTo>
                  <a:cubicBezTo>
                    <a:pt x="0" y="46200"/>
                    <a:pt x="6624" y="30208"/>
                    <a:pt x="18416" y="18416"/>
                  </a:cubicBezTo>
                  <a:cubicBezTo>
                    <a:pt x="30208" y="6624"/>
                    <a:pt x="46200" y="0"/>
                    <a:pt x="62876" y="0"/>
                  </a:cubicBezTo>
                  <a:close/>
                </a:path>
              </a:pathLst>
            </a:custGeom>
            <a:solidFill>
              <a:srgbClr val="FBFB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53167" cy="173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62919" y="8054741"/>
            <a:ext cx="3239369" cy="477467"/>
            <a:chOff x="0" y="0"/>
            <a:chExt cx="853167" cy="1257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3167" cy="125753"/>
            </a:xfrm>
            <a:custGeom>
              <a:avLst/>
              <a:gdLst/>
              <a:ahLst/>
              <a:cxnLst/>
              <a:rect l="l" t="t" r="r" b="b"/>
              <a:pathLst>
                <a:path w="853167" h="125753">
                  <a:moveTo>
                    <a:pt x="62876" y="0"/>
                  </a:moveTo>
                  <a:lnTo>
                    <a:pt x="790291" y="0"/>
                  </a:lnTo>
                  <a:cubicBezTo>
                    <a:pt x="806967" y="0"/>
                    <a:pt x="822959" y="6624"/>
                    <a:pt x="834751" y="18416"/>
                  </a:cubicBezTo>
                  <a:cubicBezTo>
                    <a:pt x="846543" y="30208"/>
                    <a:pt x="853167" y="46200"/>
                    <a:pt x="853167" y="62876"/>
                  </a:cubicBezTo>
                  <a:lnTo>
                    <a:pt x="853167" y="62876"/>
                  </a:lnTo>
                  <a:cubicBezTo>
                    <a:pt x="853167" y="79552"/>
                    <a:pt x="846543" y="95545"/>
                    <a:pt x="834751" y="107337"/>
                  </a:cubicBezTo>
                  <a:cubicBezTo>
                    <a:pt x="822959" y="119128"/>
                    <a:pt x="806967" y="125753"/>
                    <a:pt x="790291" y="125753"/>
                  </a:cubicBezTo>
                  <a:lnTo>
                    <a:pt x="62876" y="125753"/>
                  </a:lnTo>
                  <a:cubicBezTo>
                    <a:pt x="46200" y="125753"/>
                    <a:pt x="30208" y="119128"/>
                    <a:pt x="18416" y="107337"/>
                  </a:cubicBezTo>
                  <a:cubicBezTo>
                    <a:pt x="6624" y="95545"/>
                    <a:pt x="0" y="79552"/>
                    <a:pt x="0" y="62876"/>
                  </a:cubicBezTo>
                  <a:lnTo>
                    <a:pt x="0" y="62876"/>
                  </a:lnTo>
                  <a:cubicBezTo>
                    <a:pt x="0" y="46200"/>
                    <a:pt x="6624" y="30208"/>
                    <a:pt x="18416" y="18416"/>
                  </a:cubicBezTo>
                  <a:cubicBezTo>
                    <a:pt x="30208" y="6624"/>
                    <a:pt x="46200" y="0"/>
                    <a:pt x="62876" y="0"/>
                  </a:cubicBezTo>
                  <a:close/>
                </a:path>
              </a:pathLst>
            </a:custGeom>
            <a:solidFill>
              <a:srgbClr val="FBFB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53167" cy="173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242634" y="8054741"/>
            <a:ext cx="3239369" cy="477467"/>
            <a:chOff x="0" y="0"/>
            <a:chExt cx="853167" cy="12575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3167" cy="125753"/>
            </a:xfrm>
            <a:custGeom>
              <a:avLst/>
              <a:gdLst/>
              <a:ahLst/>
              <a:cxnLst/>
              <a:rect l="l" t="t" r="r" b="b"/>
              <a:pathLst>
                <a:path w="853167" h="125753">
                  <a:moveTo>
                    <a:pt x="62876" y="0"/>
                  </a:moveTo>
                  <a:lnTo>
                    <a:pt x="790291" y="0"/>
                  </a:lnTo>
                  <a:cubicBezTo>
                    <a:pt x="806967" y="0"/>
                    <a:pt x="822959" y="6624"/>
                    <a:pt x="834751" y="18416"/>
                  </a:cubicBezTo>
                  <a:cubicBezTo>
                    <a:pt x="846543" y="30208"/>
                    <a:pt x="853167" y="46200"/>
                    <a:pt x="853167" y="62876"/>
                  </a:cubicBezTo>
                  <a:lnTo>
                    <a:pt x="853167" y="62876"/>
                  </a:lnTo>
                  <a:cubicBezTo>
                    <a:pt x="853167" y="79552"/>
                    <a:pt x="846543" y="95545"/>
                    <a:pt x="834751" y="107337"/>
                  </a:cubicBezTo>
                  <a:cubicBezTo>
                    <a:pt x="822959" y="119128"/>
                    <a:pt x="806967" y="125753"/>
                    <a:pt x="790291" y="125753"/>
                  </a:cubicBezTo>
                  <a:lnTo>
                    <a:pt x="62876" y="125753"/>
                  </a:lnTo>
                  <a:cubicBezTo>
                    <a:pt x="46200" y="125753"/>
                    <a:pt x="30208" y="119128"/>
                    <a:pt x="18416" y="107337"/>
                  </a:cubicBezTo>
                  <a:cubicBezTo>
                    <a:pt x="6624" y="95545"/>
                    <a:pt x="0" y="79552"/>
                    <a:pt x="0" y="62876"/>
                  </a:cubicBezTo>
                  <a:lnTo>
                    <a:pt x="0" y="62876"/>
                  </a:lnTo>
                  <a:cubicBezTo>
                    <a:pt x="0" y="46200"/>
                    <a:pt x="6624" y="30208"/>
                    <a:pt x="18416" y="18416"/>
                  </a:cubicBezTo>
                  <a:cubicBezTo>
                    <a:pt x="30208" y="6624"/>
                    <a:pt x="46200" y="0"/>
                    <a:pt x="62876" y="0"/>
                  </a:cubicBezTo>
                  <a:close/>
                </a:path>
              </a:pathLst>
            </a:custGeom>
            <a:solidFill>
              <a:srgbClr val="FBFB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53167" cy="173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88627" y="6250776"/>
            <a:ext cx="3493774" cy="44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b="1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Handling Conflicting privacy requests from multipte guests simultaneously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55653" y="8064266"/>
            <a:ext cx="3653901" cy="44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b="1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Replace manual PIN entry with QR code scanning to authenticate guests.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42767" y="6037469"/>
            <a:ext cx="3653901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b="1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Integrating with Home Assistant and Matter protocols to control physical smart devices.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35368" y="7954729"/>
            <a:ext cx="3653901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b="1">
                <a:solidFill>
                  <a:srgbClr val="072F48"/>
                </a:solidFill>
                <a:latin typeface="Anek Bangla Bold"/>
                <a:ea typeface="Anek Bangla Bold"/>
                <a:cs typeface="Anek Bangla Bold"/>
                <a:sym typeface="Anek Bangla Bold"/>
              </a:rPr>
              <a:t>Utilize ML to remember guest preferences, automatically applying their specific privacy settings.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-905963" y="488121"/>
            <a:ext cx="16230600" cy="301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99"/>
              </a:lnSpc>
              <a:spcBef>
                <a:spcPct val="0"/>
              </a:spcBef>
            </a:pPr>
            <a:r>
              <a:rPr lang="en-US" sz="17499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Conclusion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347680" y="170972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107495" y="3611505"/>
            <a:ext cx="14073010" cy="5646795"/>
          </a:xfrm>
          <a:custGeom>
            <a:avLst/>
            <a:gdLst/>
            <a:ahLst/>
            <a:cxnLst/>
            <a:rect l="l" t="t" r="r" b="b"/>
            <a:pathLst>
              <a:path w="14073010" h="5646795">
                <a:moveTo>
                  <a:pt x="0" y="0"/>
                </a:moveTo>
                <a:lnTo>
                  <a:pt x="14073010" y="0"/>
                </a:lnTo>
                <a:lnTo>
                  <a:pt x="14073010" y="5646795"/>
                </a:lnTo>
                <a:lnTo>
                  <a:pt x="0" y="56467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14350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0" y="0"/>
                </a:moveTo>
                <a:lnTo>
                  <a:pt x="6626087" y="0"/>
                </a:lnTo>
                <a:lnTo>
                  <a:pt x="66260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1661913" y="0"/>
            <a:ext cx="6626087" cy="5143500"/>
          </a:xfrm>
          <a:custGeom>
            <a:avLst/>
            <a:gdLst/>
            <a:ahLst/>
            <a:cxnLst/>
            <a:rect l="l" t="t" r="r" b="b"/>
            <a:pathLst>
              <a:path w="6626087" h="5143500">
                <a:moveTo>
                  <a:pt x="6626087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6626087" y="0"/>
                </a:lnTo>
                <a:lnTo>
                  <a:pt x="6626087" y="514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00000">
            <a:off x="368458" y="1709720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0" y="0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0" y="2232259"/>
                </a:moveTo>
                <a:lnTo>
                  <a:pt x="2170872" y="2232259"/>
                </a:lnTo>
                <a:lnTo>
                  <a:pt x="2170872" y="0"/>
                </a:lnTo>
                <a:lnTo>
                  <a:pt x="0" y="0"/>
                </a:lnTo>
                <a:lnTo>
                  <a:pt x="0" y="22322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6117128" y="8054741"/>
            <a:ext cx="2170872" cy="2232259"/>
          </a:xfrm>
          <a:custGeom>
            <a:avLst/>
            <a:gdLst/>
            <a:ahLst/>
            <a:cxnLst/>
            <a:rect l="l" t="t" r="r" b="b"/>
            <a:pathLst>
              <a:path w="2170872" h="2232259">
                <a:moveTo>
                  <a:pt x="2170872" y="0"/>
                </a:moveTo>
                <a:lnTo>
                  <a:pt x="0" y="0"/>
                </a:lnTo>
                <a:lnTo>
                  <a:pt x="0" y="2232259"/>
                </a:lnTo>
                <a:lnTo>
                  <a:pt x="2170872" y="2232259"/>
                </a:lnTo>
                <a:lnTo>
                  <a:pt x="217087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2611207"/>
            <a:ext cx="16230600" cy="344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>
                <a:solidFill>
                  <a:srgbClr val="FEFEFE"/>
                </a:solidFill>
                <a:latin typeface="Skillet Condensed"/>
                <a:ea typeface="Skillet Condensed"/>
                <a:cs typeface="Skillet Condensed"/>
                <a:sym typeface="Skillet Condensed"/>
              </a:rPr>
              <a:t>Thank 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76255" y="5583007"/>
            <a:ext cx="12735490" cy="1130275"/>
          </a:xfrm>
          <a:custGeom>
            <a:avLst/>
            <a:gdLst/>
            <a:ahLst/>
            <a:cxnLst/>
            <a:rect l="l" t="t" r="r" b="b"/>
            <a:pathLst>
              <a:path w="12735490" h="1130275">
                <a:moveTo>
                  <a:pt x="0" y="0"/>
                </a:moveTo>
                <a:lnTo>
                  <a:pt x="12735490" y="0"/>
                </a:lnTo>
                <a:lnTo>
                  <a:pt x="12735490" y="1130275"/>
                </a:lnTo>
                <a:lnTo>
                  <a:pt x="0" y="113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5567120"/>
            <a:ext cx="1623060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spc="300">
                <a:solidFill>
                  <a:srgbClr val="FFFFFF"/>
                </a:solidFill>
                <a:latin typeface="Anek Bangla Medium"/>
                <a:ea typeface="Anek Bangla Medium"/>
                <a:cs typeface="Anek Bangla Medium"/>
                <a:sym typeface="Anek Bangla Medium"/>
              </a:rPr>
              <a:t>Any Questions?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15655976" y="7654976"/>
            <a:ext cx="2284343" cy="922304"/>
          </a:xfrm>
          <a:custGeom>
            <a:avLst/>
            <a:gdLst/>
            <a:ahLst/>
            <a:cxnLst/>
            <a:rect l="l" t="t" r="r" b="b"/>
            <a:pathLst>
              <a:path w="2284343" h="922304">
                <a:moveTo>
                  <a:pt x="0" y="0"/>
                </a:moveTo>
                <a:lnTo>
                  <a:pt x="2284344" y="0"/>
                </a:lnTo>
                <a:lnTo>
                  <a:pt x="2284344" y="922304"/>
                </a:lnTo>
                <a:lnTo>
                  <a:pt x="0" y="92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TUSGUID" val="b00bf4fc-3550-43db-ad69-0f8338166300"/>
  <p:tag name="CLASSIFICATION" val="G-6a534ab8"/>
  <p:tag name="KVKK" val="N-c5b93c79"/>
  <p:tag name="VISUALMARKING" val="ApplyTa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b00bf4fc-3550-43db-ad69-0f8338166300</TitusGUID>
  <TitusMetadata xmlns="">eyJucyI6Imh0dHBzOlwvXC90aXR1cy5jb20iLCJwcm9wcyI6W3sibiI6IkNsYXNzaWZpY2F0aW9uIiwidmFscyI6W3sidmFsdWUiOiJHLTZhNTM0YWI4In1dfSx7Im4iOiJZYXJkaW0iLCJ2YWxzIjpbXX0seyJuIjoiS1ZLSyIsInZhbHMiOlt7InZhbHVlIjoiTi1jNWI5M2M3OSJ9XX0seyJuIjoiWWFyZGltMiIsInZhbHMiOltdfSx7Im4iOiJWaXN1YWxNYXJraW5nIiwidmFscyI6W3sidmFsdWUiOiJBcHBseVRhZyJ9XX1dfQ==</TitusMetadata>
</titus>
</file>

<file path=customXml/itemProps1.xml><?xml version="1.0" encoding="utf-8"?>
<ds:datastoreItem xmlns:ds="http://schemas.openxmlformats.org/officeDocument/2006/customXml" ds:itemID="{958FD4F2-413C-4554-B1B5-EACA6C75F52D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1630</Words>
  <Application>Microsoft Office PowerPoint</Application>
  <PresentationFormat>Custom</PresentationFormat>
  <Paragraphs>145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Anek Bangla Medium</vt:lpstr>
      <vt:lpstr>Calibri</vt:lpstr>
      <vt:lpstr>Skillet Condensed</vt:lpstr>
      <vt:lpstr>Aptos</vt:lpstr>
      <vt:lpstr>Arial</vt:lpstr>
      <vt:lpstr>Anek Bangla Bold</vt:lpstr>
      <vt:lpstr>Anek Bangla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Bystander Privacy Protection in Smart Homes</dc:title>
  <cp:keywords>G-6a534ab8, N-c5b93c79</cp:keywords>
  <cp:lastModifiedBy>HASAN MALKOÇ</cp:lastModifiedBy>
  <cp:revision>3</cp:revision>
  <dcterms:created xsi:type="dcterms:W3CDTF">2006-08-16T00:00:00Z</dcterms:created>
  <dcterms:modified xsi:type="dcterms:W3CDTF">2025-12-24T07:45:13Z</dcterms:modified>
  <dc:identifier>DAG8C_FgPAo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b00bf4fc-3550-43db-ad69-0f8338166300</vt:lpwstr>
  </property>
  <property fmtid="{D5CDD505-2E9C-101B-9397-08002B2CF9AE}" pid="3" name="Classification">
    <vt:lpwstr>G-6a534ab8</vt:lpwstr>
  </property>
  <property fmtid="{D5CDD505-2E9C-101B-9397-08002B2CF9AE}" pid="4" name="KVKK">
    <vt:lpwstr>N-c5b93c79</vt:lpwstr>
  </property>
  <property fmtid="{D5CDD505-2E9C-101B-9397-08002B2CF9AE}" pid="5" name="VisualMarking">
    <vt:lpwstr>ApplyTag</vt:lpwstr>
  </property>
</Properties>
</file>